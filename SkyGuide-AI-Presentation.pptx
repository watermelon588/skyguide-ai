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606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warmly. This is a personal project pitched as a free startup: a full astronomy platform built end-to-end by one person. Set the tone: this deck is a story — the problem, the product, the 14-day build, and the scars.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 story. Keep it personal and unpolished — the honesty is the hook. The product exists because of the exact problem the next slide describes.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barriers: cost, knowledge, mechanics, isolation. Each is real and specific. Land the closing line: money and math guard the door.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startup framing: Spotify-for-the-sky personalization. Three pillars map to the three barriers (knowledge, cost/gear, mechanics). The 'free forever' box is the emotional close of the pitch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bento grid mirrors the product's own design language. Emphasize: all nine are shipped and verified, not a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loop end to end. The magic beat is step 7 — the phone-on-tube guidance. Screenshots go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Textbook microservice split: I/O-bound gateway in Node, CPU-bound science in Python, one shared database. The phone is a first-class client with its own tiny bundle.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credibility slide. The scoring is explainable physics, not a black box. The ML slot exists (model: heuristic-v1) but is deliberately deferred until real observation history exists to train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flagship engineering feature. The pipeline is phone → orientation model → gateway alignment engine → guidance. Real field test converged from 20.86° to 0.02°. This is the ₹0 GoTo mount.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columns = three services. Call out the deliberate choices: Context API not Redux, cookies not localStorage, two Vite entries so the phone downloads 80KB not 1MB.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free-forever promise is engineered: open data + free tiers + aggressive caching. Weather cached 10 min, TLEs 24h, recommendations stale-while-revalidate.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tree is real, not idealized. Highlight docs/ — the day-by-day journal is primary-source material for the next four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 days. Decisions made here (cookie auth, science-in-Python, socket rooms) never had to be reversed.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hard-science week. By day 8 the core promise — phone-guided pointing — was proven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intense days that turned the engine into a product: look, paths, identity, and the recommendation brain.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scale week. Close on day 14's poetry: guidance on the phone itself, because the laptop is three steps away in the dark.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war stories: the volatile-emit drop, the 120× scale break, the two-layer perf bug, corrupt astronomical data, and the invisible-ISS bug. Each has a name, a cause, and a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Platform-level pain: HTTPS sensor gates, the four-bug auth stack (including a security leak), library crashes, jittering timestamps, and a dev environment that fakes failures. The closing line is the engineering-culture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 slide for the startup pitch. The geohash-cell-centre decision (and why jitter was rejected) is the strongest 30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Rapid-fire proof. Let the last tile (₹0) land the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Gallery slide 1 — drop real screenshots into the frames. Keep captions.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Gallery slide 2 — note the portrait frame for the phone companion.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is grounded in reserved fields that already exist in the schema — proof the architecture anticipated its future. Close with the sustainability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where it began: the 20-year-old on the terrace. The product is the telescope fund he didn't have. Thank the room;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7" y="3597618"/>
            <a:ext cx="25767" cy="25767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3" name="Shape 1"/>
          <p:cNvSpPr/>
          <p:nvPr/>
        </p:nvSpPr>
        <p:spPr>
          <a:xfrm>
            <a:off x="2392519" y="6692543"/>
            <a:ext cx="21279" cy="21279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4" name="Shape 2"/>
          <p:cNvSpPr/>
          <p:nvPr/>
        </p:nvSpPr>
        <p:spPr>
          <a:xfrm>
            <a:off x="1305281" y="5592614"/>
            <a:ext cx="29089" cy="29089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5" name="Shape 3"/>
          <p:cNvSpPr/>
          <p:nvPr/>
        </p:nvSpPr>
        <p:spPr>
          <a:xfrm>
            <a:off x="3015646" y="1291184"/>
            <a:ext cx="17477" cy="17477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6" name="Shape 4"/>
          <p:cNvSpPr/>
          <p:nvPr/>
        </p:nvSpPr>
        <p:spPr>
          <a:xfrm>
            <a:off x="9841043" y="3664990"/>
            <a:ext cx="27961" cy="27961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7" name="Shape 5"/>
          <p:cNvSpPr/>
          <p:nvPr/>
        </p:nvSpPr>
        <p:spPr>
          <a:xfrm>
            <a:off x="6569960" y="898457"/>
            <a:ext cx="28324" cy="28324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8" name="Shape 6"/>
          <p:cNvSpPr/>
          <p:nvPr/>
        </p:nvSpPr>
        <p:spPr>
          <a:xfrm>
            <a:off x="5485089" y="1601171"/>
            <a:ext cx="11221" cy="11221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2109841" y="6278082"/>
            <a:ext cx="26781" cy="26781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10" name="Shape 8"/>
          <p:cNvSpPr/>
          <p:nvPr/>
        </p:nvSpPr>
        <p:spPr>
          <a:xfrm>
            <a:off x="7600667" y="2360689"/>
            <a:ext cx="18529" cy="18529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11" name="Shape 9"/>
          <p:cNvSpPr/>
          <p:nvPr/>
        </p:nvSpPr>
        <p:spPr>
          <a:xfrm>
            <a:off x="7812449" y="2494804"/>
            <a:ext cx="12035" cy="12035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12" name="Shape 10"/>
          <p:cNvSpPr/>
          <p:nvPr/>
        </p:nvSpPr>
        <p:spPr>
          <a:xfrm>
            <a:off x="5531573" y="2258196"/>
            <a:ext cx="14851" cy="14851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24721" y="3745067"/>
            <a:ext cx="12766" cy="12766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14" name="Shape 12"/>
          <p:cNvSpPr/>
          <p:nvPr/>
        </p:nvSpPr>
        <p:spPr>
          <a:xfrm>
            <a:off x="8551330" y="1280665"/>
            <a:ext cx="21910" cy="21910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15" name="Shape 13"/>
          <p:cNvSpPr/>
          <p:nvPr/>
        </p:nvSpPr>
        <p:spPr>
          <a:xfrm>
            <a:off x="8340442" y="2738972"/>
            <a:ext cx="19803" cy="19803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16" name="Shape 14"/>
          <p:cNvSpPr/>
          <p:nvPr/>
        </p:nvSpPr>
        <p:spPr>
          <a:xfrm>
            <a:off x="9882578" y="5528224"/>
            <a:ext cx="12933" cy="12933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632957" y="4371533"/>
            <a:ext cx="18624" cy="18624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2371" y="709990"/>
            <a:ext cx="30760" cy="30760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19" name="Shape 17"/>
          <p:cNvSpPr/>
          <p:nvPr/>
        </p:nvSpPr>
        <p:spPr>
          <a:xfrm>
            <a:off x="3234287" y="4570469"/>
            <a:ext cx="29382" cy="29382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231261" y="3204770"/>
            <a:ext cx="30632" cy="30632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49744" y="5093028"/>
            <a:ext cx="22188" cy="22188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22" name="Shape 20"/>
          <p:cNvSpPr/>
          <p:nvPr/>
        </p:nvSpPr>
        <p:spPr>
          <a:xfrm>
            <a:off x="3746791" y="2355359"/>
            <a:ext cx="17236" cy="17236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23" name="Shape 21"/>
          <p:cNvSpPr/>
          <p:nvPr/>
        </p:nvSpPr>
        <p:spPr>
          <a:xfrm>
            <a:off x="7953650" y="431503"/>
            <a:ext cx="20825" cy="20825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24" name="Shape 22"/>
          <p:cNvSpPr/>
          <p:nvPr/>
        </p:nvSpPr>
        <p:spPr>
          <a:xfrm>
            <a:off x="8544949" y="2662671"/>
            <a:ext cx="19963" cy="19963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25" name="Shape 23"/>
          <p:cNvSpPr/>
          <p:nvPr/>
        </p:nvSpPr>
        <p:spPr>
          <a:xfrm>
            <a:off x="5220423" y="2006113"/>
            <a:ext cx="19240" cy="19240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26" name="Shape 24"/>
          <p:cNvSpPr/>
          <p:nvPr/>
        </p:nvSpPr>
        <p:spPr>
          <a:xfrm>
            <a:off x="8657032" y="6416095"/>
            <a:ext cx="11331" cy="11331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27" name="Shape 25"/>
          <p:cNvSpPr/>
          <p:nvPr/>
        </p:nvSpPr>
        <p:spPr>
          <a:xfrm>
            <a:off x="6493082" y="863993"/>
            <a:ext cx="19026" cy="19026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28" name="Shape 26"/>
          <p:cNvSpPr/>
          <p:nvPr/>
        </p:nvSpPr>
        <p:spPr>
          <a:xfrm>
            <a:off x="4774249" y="522949"/>
            <a:ext cx="22995" cy="22995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29" name="Shape 27"/>
          <p:cNvSpPr/>
          <p:nvPr/>
        </p:nvSpPr>
        <p:spPr>
          <a:xfrm>
            <a:off x="4710601" y="2153909"/>
            <a:ext cx="23376" cy="23376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56377" y="1346816"/>
            <a:ext cx="24287" cy="24287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31" name="Shape 29"/>
          <p:cNvSpPr/>
          <p:nvPr/>
        </p:nvSpPr>
        <p:spPr>
          <a:xfrm>
            <a:off x="1550078" y="2456109"/>
            <a:ext cx="15446" cy="15446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32" name="Shape 30"/>
          <p:cNvSpPr/>
          <p:nvPr/>
        </p:nvSpPr>
        <p:spPr>
          <a:xfrm>
            <a:off x="11657884" y="4977156"/>
            <a:ext cx="22828" cy="22828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33" name="Shape 31"/>
          <p:cNvSpPr/>
          <p:nvPr/>
        </p:nvSpPr>
        <p:spPr>
          <a:xfrm>
            <a:off x="4461107" y="2011409"/>
            <a:ext cx="18814" cy="18814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34" name="Shape 32"/>
          <p:cNvSpPr/>
          <p:nvPr/>
        </p:nvSpPr>
        <p:spPr>
          <a:xfrm>
            <a:off x="3923754" y="2418523"/>
            <a:ext cx="13158" cy="13158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35" name="Shape 33"/>
          <p:cNvSpPr/>
          <p:nvPr/>
        </p:nvSpPr>
        <p:spPr>
          <a:xfrm>
            <a:off x="123544" y="2408496"/>
            <a:ext cx="21766" cy="21766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36" name="Shape 34"/>
          <p:cNvSpPr/>
          <p:nvPr/>
        </p:nvSpPr>
        <p:spPr>
          <a:xfrm>
            <a:off x="11127189" y="6617170"/>
            <a:ext cx="26954" cy="26954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37" name="Shape 35"/>
          <p:cNvSpPr/>
          <p:nvPr/>
        </p:nvSpPr>
        <p:spPr>
          <a:xfrm>
            <a:off x="2404046" y="5975324"/>
            <a:ext cx="27314" cy="27314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38" name="Shape 36"/>
          <p:cNvSpPr/>
          <p:nvPr/>
        </p:nvSpPr>
        <p:spPr>
          <a:xfrm>
            <a:off x="7659650" y="4626362"/>
            <a:ext cx="28926" cy="28926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39" name="Shape 37"/>
          <p:cNvSpPr/>
          <p:nvPr/>
        </p:nvSpPr>
        <p:spPr>
          <a:xfrm>
            <a:off x="12147596" y="6691163"/>
            <a:ext cx="13595" cy="13595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40" name="Shape 38"/>
          <p:cNvSpPr/>
          <p:nvPr/>
        </p:nvSpPr>
        <p:spPr>
          <a:xfrm>
            <a:off x="6617131" y="1198224"/>
            <a:ext cx="21137" cy="21137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41" name="Shape 39"/>
          <p:cNvSpPr/>
          <p:nvPr/>
        </p:nvSpPr>
        <p:spPr>
          <a:xfrm>
            <a:off x="3049027" y="1485011"/>
            <a:ext cx="17764" cy="17764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42" name="Shape 40"/>
          <p:cNvSpPr/>
          <p:nvPr/>
        </p:nvSpPr>
        <p:spPr>
          <a:xfrm>
            <a:off x="11670104" y="3943524"/>
            <a:ext cx="20063" cy="20063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43" name="Shape 41"/>
          <p:cNvSpPr/>
          <p:nvPr/>
        </p:nvSpPr>
        <p:spPr>
          <a:xfrm>
            <a:off x="6005244" y="3155441"/>
            <a:ext cx="12691" cy="12691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44" name="Shape 42"/>
          <p:cNvSpPr/>
          <p:nvPr/>
        </p:nvSpPr>
        <p:spPr>
          <a:xfrm>
            <a:off x="6970632" y="4157703"/>
            <a:ext cx="17898" cy="17898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45" name="Shape 43"/>
          <p:cNvSpPr/>
          <p:nvPr/>
        </p:nvSpPr>
        <p:spPr>
          <a:xfrm>
            <a:off x="9943262" y="3302975"/>
            <a:ext cx="24037" cy="24037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46" name="Shape 44"/>
          <p:cNvSpPr/>
          <p:nvPr/>
        </p:nvSpPr>
        <p:spPr>
          <a:xfrm>
            <a:off x="7682132" y="4625652"/>
            <a:ext cx="14032" cy="14032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47" name="Shape 45"/>
          <p:cNvSpPr/>
          <p:nvPr/>
        </p:nvSpPr>
        <p:spPr>
          <a:xfrm>
            <a:off x="603000" y="3151627"/>
            <a:ext cx="25822" cy="25822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48" name="Shape 46"/>
          <p:cNvSpPr/>
          <p:nvPr/>
        </p:nvSpPr>
        <p:spPr>
          <a:xfrm>
            <a:off x="518283" y="4430700"/>
            <a:ext cx="18643" cy="18643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49" name="Shape 47"/>
          <p:cNvSpPr/>
          <p:nvPr/>
        </p:nvSpPr>
        <p:spPr>
          <a:xfrm>
            <a:off x="4641365" y="5800695"/>
            <a:ext cx="27995" cy="27995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50" name="Shape 48"/>
          <p:cNvSpPr/>
          <p:nvPr/>
        </p:nvSpPr>
        <p:spPr>
          <a:xfrm>
            <a:off x="638009" y="5026804"/>
            <a:ext cx="16218" cy="16218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51" name="Shape 49"/>
          <p:cNvSpPr/>
          <p:nvPr/>
        </p:nvSpPr>
        <p:spPr>
          <a:xfrm>
            <a:off x="5710203" y="4363984"/>
            <a:ext cx="28661" cy="28661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52" name="Shape 50"/>
          <p:cNvSpPr/>
          <p:nvPr/>
        </p:nvSpPr>
        <p:spPr>
          <a:xfrm>
            <a:off x="11736735" y="3095620"/>
            <a:ext cx="20639" cy="20639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53" name="Shape 51"/>
          <p:cNvSpPr/>
          <p:nvPr/>
        </p:nvSpPr>
        <p:spPr>
          <a:xfrm>
            <a:off x="449992" y="3297221"/>
            <a:ext cx="21998" cy="21998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54" name="Shape 52"/>
          <p:cNvSpPr/>
          <p:nvPr/>
        </p:nvSpPr>
        <p:spPr>
          <a:xfrm>
            <a:off x="8102700" y="4002352"/>
            <a:ext cx="23465" cy="23465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55" name="Shape 53"/>
          <p:cNvSpPr/>
          <p:nvPr/>
        </p:nvSpPr>
        <p:spPr>
          <a:xfrm>
            <a:off x="9821053" y="6659459"/>
            <a:ext cx="19683" cy="19683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56" name="Shape 54"/>
          <p:cNvSpPr/>
          <p:nvPr/>
        </p:nvSpPr>
        <p:spPr>
          <a:xfrm>
            <a:off x="5387725" y="6733126"/>
            <a:ext cx="30465" cy="30465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57" name="Shape 55"/>
          <p:cNvSpPr/>
          <p:nvPr/>
        </p:nvSpPr>
        <p:spPr>
          <a:xfrm>
            <a:off x="12075669" y="5465089"/>
            <a:ext cx="18493" cy="18493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58" name="Shape 56"/>
          <p:cNvSpPr/>
          <p:nvPr/>
        </p:nvSpPr>
        <p:spPr>
          <a:xfrm>
            <a:off x="11329284" y="4309324"/>
            <a:ext cx="29527" cy="29527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59" name="Shape 57"/>
          <p:cNvSpPr/>
          <p:nvPr/>
        </p:nvSpPr>
        <p:spPr>
          <a:xfrm>
            <a:off x="1787313" y="3259481"/>
            <a:ext cx="12111" cy="12111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60" name="Shape 58"/>
          <p:cNvSpPr/>
          <p:nvPr/>
        </p:nvSpPr>
        <p:spPr>
          <a:xfrm>
            <a:off x="5222916" y="5013935"/>
            <a:ext cx="25498" cy="25498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61" name="Shape 59"/>
          <p:cNvSpPr/>
          <p:nvPr/>
        </p:nvSpPr>
        <p:spPr>
          <a:xfrm>
            <a:off x="9640219" y="4284258"/>
            <a:ext cx="20898" cy="20898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62" name="Shape 60"/>
          <p:cNvSpPr/>
          <p:nvPr/>
        </p:nvSpPr>
        <p:spPr>
          <a:xfrm>
            <a:off x="3276023" y="1476165"/>
            <a:ext cx="24212" cy="24212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63" name="Shape 61"/>
          <p:cNvSpPr/>
          <p:nvPr/>
        </p:nvSpPr>
        <p:spPr>
          <a:xfrm>
            <a:off x="2952141" y="4275945"/>
            <a:ext cx="13384" cy="13384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64" name="Shape 62"/>
          <p:cNvSpPr/>
          <p:nvPr/>
        </p:nvSpPr>
        <p:spPr>
          <a:xfrm>
            <a:off x="1524822" y="3664396"/>
            <a:ext cx="18792" cy="18792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65" name="Shape 63"/>
          <p:cNvSpPr/>
          <p:nvPr/>
        </p:nvSpPr>
        <p:spPr>
          <a:xfrm>
            <a:off x="340929" y="666444"/>
            <a:ext cx="16289" cy="16289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66" name="Shape 64"/>
          <p:cNvSpPr/>
          <p:nvPr/>
        </p:nvSpPr>
        <p:spPr>
          <a:xfrm>
            <a:off x="6405968" y="54185"/>
            <a:ext cx="26883" cy="26883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67" name="Shape 65"/>
          <p:cNvSpPr/>
          <p:nvPr/>
        </p:nvSpPr>
        <p:spPr>
          <a:xfrm>
            <a:off x="1915615" y="2654751"/>
            <a:ext cx="11734" cy="11734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68" name="Shape 66"/>
          <p:cNvSpPr/>
          <p:nvPr/>
        </p:nvSpPr>
        <p:spPr>
          <a:xfrm>
            <a:off x="2425934" y="349980"/>
            <a:ext cx="25075" cy="25075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69" name="Shape 67"/>
          <p:cNvSpPr/>
          <p:nvPr/>
        </p:nvSpPr>
        <p:spPr>
          <a:xfrm>
            <a:off x="10621402" y="3768496"/>
            <a:ext cx="21167" cy="21167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70" name="Shape 68"/>
          <p:cNvSpPr/>
          <p:nvPr/>
        </p:nvSpPr>
        <p:spPr>
          <a:xfrm>
            <a:off x="3521525" y="5008452"/>
            <a:ext cx="16747" cy="16747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71" name="Shape 69"/>
          <p:cNvSpPr/>
          <p:nvPr/>
        </p:nvSpPr>
        <p:spPr>
          <a:xfrm>
            <a:off x="2619825" y="2756578"/>
            <a:ext cx="22748" cy="22748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72" name="Shape 70"/>
          <p:cNvSpPr/>
          <p:nvPr/>
        </p:nvSpPr>
        <p:spPr>
          <a:xfrm>
            <a:off x="8283838" y="2395419"/>
            <a:ext cx="20767" cy="20767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73" name="Shape 71"/>
          <p:cNvSpPr/>
          <p:nvPr/>
        </p:nvSpPr>
        <p:spPr>
          <a:xfrm>
            <a:off x="8777305" y="5328192"/>
            <a:ext cx="28615" cy="28615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58332" y="988463"/>
            <a:ext cx="19831" cy="19831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75" name="Shape 73"/>
          <p:cNvSpPr/>
          <p:nvPr/>
        </p:nvSpPr>
        <p:spPr>
          <a:xfrm>
            <a:off x="10092766" y="4306302"/>
            <a:ext cx="21369" cy="21369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76" name="Shape 74"/>
          <p:cNvSpPr/>
          <p:nvPr/>
        </p:nvSpPr>
        <p:spPr>
          <a:xfrm>
            <a:off x="11430034" y="3769186"/>
            <a:ext cx="14951" cy="14951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77" name="Shape 75"/>
          <p:cNvSpPr/>
          <p:nvPr/>
        </p:nvSpPr>
        <p:spPr>
          <a:xfrm>
            <a:off x="5448041" y="1021801"/>
            <a:ext cx="13821" cy="13821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78" name="Shape 76"/>
          <p:cNvSpPr/>
          <p:nvPr/>
        </p:nvSpPr>
        <p:spPr>
          <a:xfrm>
            <a:off x="9159440" y="4745036"/>
            <a:ext cx="25632" cy="25632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79" name="Shape 77"/>
          <p:cNvSpPr/>
          <p:nvPr/>
        </p:nvSpPr>
        <p:spPr>
          <a:xfrm>
            <a:off x="6969934" y="4419209"/>
            <a:ext cx="15369" cy="15369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80" name="Shape 78"/>
          <p:cNvSpPr/>
          <p:nvPr/>
        </p:nvSpPr>
        <p:spPr>
          <a:xfrm>
            <a:off x="2309989" y="1225283"/>
            <a:ext cx="27449" cy="27449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81" name="Shape 79"/>
          <p:cNvSpPr/>
          <p:nvPr/>
        </p:nvSpPr>
        <p:spPr>
          <a:xfrm>
            <a:off x="11441156" y="6073886"/>
            <a:ext cx="18225" cy="18225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82" name="Shape 80"/>
          <p:cNvSpPr/>
          <p:nvPr/>
        </p:nvSpPr>
        <p:spPr>
          <a:xfrm>
            <a:off x="6838763" y="5322451"/>
            <a:ext cx="27221" cy="27221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83" name="Shape 81"/>
          <p:cNvSpPr/>
          <p:nvPr/>
        </p:nvSpPr>
        <p:spPr>
          <a:xfrm>
            <a:off x="788472" y="1387484"/>
            <a:ext cx="17575" cy="17575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84" name="Shape 82"/>
          <p:cNvSpPr/>
          <p:nvPr/>
        </p:nvSpPr>
        <p:spPr>
          <a:xfrm>
            <a:off x="7603153" y="5295300"/>
            <a:ext cx="16387" cy="16387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85" name="Shape 83"/>
          <p:cNvSpPr/>
          <p:nvPr/>
        </p:nvSpPr>
        <p:spPr>
          <a:xfrm>
            <a:off x="330265" y="2692423"/>
            <a:ext cx="18205" cy="18205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86" name="Shape 84"/>
          <p:cNvSpPr/>
          <p:nvPr/>
        </p:nvSpPr>
        <p:spPr>
          <a:xfrm>
            <a:off x="3276100" y="2206282"/>
            <a:ext cx="30419" cy="30419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87" name="Shape 85"/>
          <p:cNvSpPr/>
          <p:nvPr/>
        </p:nvSpPr>
        <p:spPr>
          <a:xfrm>
            <a:off x="5788882" y="859369"/>
            <a:ext cx="12336" cy="12336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88" name="Shape 86"/>
          <p:cNvSpPr/>
          <p:nvPr/>
        </p:nvSpPr>
        <p:spPr>
          <a:xfrm>
            <a:off x="9172945" y="2147133"/>
            <a:ext cx="11166" cy="11166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89" name="Shape 87"/>
          <p:cNvSpPr/>
          <p:nvPr/>
        </p:nvSpPr>
        <p:spPr>
          <a:xfrm>
            <a:off x="2642209" y="1828287"/>
            <a:ext cx="23222" cy="23222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90" name="Shape 88"/>
          <p:cNvSpPr/>
          <p:nvPr/>
        </p:nvSpPr>
        <p:spPr>
          <a:xfrm>
            <a:off x="5473882" y="5352753"/>
            <a:ext cx="12373" cy="12373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91" name="Shape 89"/>
          <p:cNvSpPr/>
          <p:nvPr/>
        </p:nvSpPr>
        <p:spPr>
          <a:xfrm>
            <a:off x="10447358" y="3877318"/>
            <a:ext cx="14981" cy="14981"/>
          </a:xfrm>
          <a:prstGeom prst="ellipse">
            <a:avLst/>
          </a:prstGeom>
          <a:solidFill>
            <a:srgbClr val="1E63FF"/>
          </a:solidFill>
          <a:ln/>
        </p:spPr>
      </p:sp>
      <p:pic>
        <p:nvPicPr>
          <p:cNvPr id="92" name="Image 0" descr="C:/Users/Rohit Maity/Desktop/coding/Webdev/project/skyguide-ai/frontend/src/assets/logo/logo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1234440" cy="1234440"/>
          </a:xfrm>
          <a:prstGeom prst="rect">
            <a:avLst/>
          </a:prstGeom>
        </p:spPr>
      </p:pic>
      <p:sp>
        <p:nvSpPr>
          <p:cNvPr id="93" name="Text 90"/>
          <p:cNvSpPr/>
          <p:nvPr/>
        </p:nvSpPr>
        <p:spPr>
          <a:xfrm>
            <a:off x="512064" y="278892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kern="0" spc="-10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SKYGUIDE AI</a:t>
            </a:r>
            <a:endParaRPr lang="en-US" sz="6200" dirty="0"/>
          </a:p>
        </p:txBody>
      </p:sp>
      <p:sp>
        <p:nvSpPr>
          <p:cNvPr id="94" name="Text 91"/>
          <p:cNvSpPr/>
          <p:nvPr/>
        </p:nvSpPr>
        <p:spPr>
          <a:xfrm>
            <a:off x="548640" y="3840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sky, for everyone. Free, forever.</a:t>
            </a:r>
            <a:endParaRPr lang="en-US" sz="2000" dirty="0"/>
          </a:p>
        </p:txBody>
      </p:sp>
      <p:sp>
        <p:nvSpPr>
          <p:cNvPr id="95" name="Text 92"/>
          <p:cNvSpPr/>
          <p:nvPr/>
        </p:nvSpPr>
        <p:spPr>
          <a:xfrm>
            <a:off x="548640" y="4370832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real-time celestial matchmaking &amp; telescope alignment platform —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a stargazer who doesn't own a telescope yet.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548640" y="5623560"/>
            <a:ext cx="7223760" cy="658368"/>
          </a:xfrm>
          <a:prstGeom prst="rect">
            <a:avLst/>
          </a:prstGeom>
          <a:solidFill>
            <a:srgbClr val="0A0A0B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731520" y="562356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Rohit Maity</a:t>
            </a:r>
            <a:r>
              <a:rPr lang="en-US" sz="12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14 build days   ·   3 services   ·   13,311 celestial objects   ·   ₹0 to use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Rohit Maity/Desktop/coding/Webdev/project/skyguide-ai/frontend/src/assets/logo/logo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9404900" y="3575404"/>
            <a:ext cx="20924" cy="20924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6" name="Shape 3"/>
          <p:cNvSpPr/>
          <p:nvPr/>
        </p:nvSpPr>
        <p:spPr>
          <a:xfrm>
            <a:off x="11397067" y="5040330"/>
            <a:ext cx="26931" cy="26931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7" name="Shape 4"/>
          <p:cNvSpPr/>
          <p:nvPr/>
        </p:nvSpPr>
        <p:spPr>
          <a:xfrm>
            <a:off x="7751568" y="710908"/>
            <a:ext cx="30906" cy="30906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8" name="Shape 5"/>
          <p:cNvSpPr/>
          <p:nvPr/>
        </p:nvSpPr>
        <p:spPr>
          <a:xfrm>
            <a:off x="11243332" y="3833803"/>
            <a:ext cx="27511" cy="27511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9" name="Shape 6"/>
          <p:cNvSpPr/>
          <p:nvPr/>
        </p:nvSpPr>
        <p:spPr>
          <a:xfrm>
            <a:off x="8029532" y="6242510"/>
            <a:ext cx="14674" cy="14674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10" name="Shape 7"/>
          <p:cNvSpPr/>
          <p:nvPr/>
        </p:nvSpPr>
        <p:spPr>
          <a:xfrm>
            <a:off x="11628097" y="5927405"/>
            <a:ext cx="27099" cy="27099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11" name="Shape 8"/>
          <p:cNvSpPr/>
          <p:nvPr/>
        </p:nvSpPr>
        <p:spPr>
          <a:xfrm>
            <a:off x="7937847" y="2740768"/>
            <a:ext cx="14455" cy="14455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12" name="Shape 9"/>
          <p:cNvSpPr/>
          <p:nvPr/>
        </p:nvSpPr>
        <p:spPr>
          <a:xfrm>
            <a:off x="11205213" y="5088504"/>
            <a:ext cx="13400" cy="13400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13" name="Shape 10"/>
          <p:cNvSpPr/>
          <p:nvPr/>
        </p:nvSpPr>
        <p:spPr>
          <a:xfrm>
            <a:off x="7881357" y="2639254"/>
            <a:ext cx="26227" cy="26227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14" name="Shape 11"/>
          <p:cNvSpPr/>
          <p:nvPr/>
        </p:nvSpPr>
        <p:spPr>
          <a:xfrm>
            <a:off x="9270027" y="940770"/>
            <a:ext cx="17064" cy="17064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15" name="Shape 12"/>
          <p:cNvSpPr/>
          <p:nvPr/>
        </p:nvSpPr>
        <p:spPr>
          <a:xfrm>
            <a:off x="7750167" y="4248982"/>
            <a:ext cx="26751" cy="26751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16" name="Shape 13"/>
          <p:cNvSpPr/>
          <p:nvPr/>
        </p:nvSpPr>
        <p:spPr>
          <a:xfrm>
            <a:off x="8227916" y="4244712"/>
            <a:ext cx="19223" cy="19223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17" name="Shape 14"/>
          <p:cNvSpPr/>
          <p:nvPr/>
        </p:nvSpPr>
        <p:spPr>
          <a:xfrm>
            <a:off x="8925981" y="5416719"/>
            <a:ext cx="19552" cy="19552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18" name="Shape 15"/>
          <p:cNvSpPr/>
          <p:nvPr/>
        </p:nvSpPr>
        <p:spPr>
          <a:xfrm>
            <a:off x="10348242" y="279502"/>
            <a:ext cx="27141" cy="27141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19" name="Shape 16"/>
          <p:cNvSpPr/>
          <p:nvPr/>
        </p:nvSpPr>
        <p:spPr>
          <a:xfrm>
            <a:off x="8363432" y="803781"/>
            <a:ext cx="18799" cy="18799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20" name="Shape 17"/>
          <p:cNvSpPr/>
          <p:nvPr/>
        </p:nvSpPr>
        <p:spPr>
          <a:xfrm>
            <a:off x="8273428" y="5677934"/>
            <a:ext cx="16106" cy="16106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21" name="Shape 18"/>
          <p:cNvSpPr/>
          <p:nvPr/>
        </p:nvSpPr>
        <p:spPr>
          <a:xfrm>
            <a:off x="8819932" y="4974561"/>
            <a:ext cx="22986" cy="22986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22" name="Shape 19"/>
          <p:cNvSpPr/>
          <p:nvPr/>
        </p:nvSpPr>
        <p:spPr>
          <a:xfrm>
            <a:off x="10005178" y="5450243"/>
            <a:ext cx="25639" cy="25639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23" name="Shape 20"/>
          <p:cNvSpPr/>
          <p:nvPr/>
        </p:nvSpPr>
        <p:spPr>
          <a:xfrm>
            <a:off x="7633417" y="4349095"/>
            <a:ext cx="20397" cy="20397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24" name="Shape 21"/>
          <p:cNvSpPr/>
          <p:nvPr/>
        </p:nvSpPr>
        <p:spPr>
          <a:xfrm>
            <a:off x="11643656" y="1546593"/>
            <a:ext cx="13109" cy="13109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25" name="Shape 22"/>
          <p:cNvSpPr/>
          <p:nvPr/>
        </p:nvSpPr>
        <p:spPr>
          <a:xfrm>
            <a:off x="8799296" y="2458581"/>
            <a:ext cx="20621" cy="20621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26" name="Shape 23"/>
          <p:cNvSpPr/>
          <p:nvPr/>
        </p:nvSpPr>
        <p:spPr>
          <a:xfrm>
            <a:off x="11722552" y="1691315"/>
            <a:ext cx="23428" cy="23428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27" name="Shape 24"/>
          <p:cNvSpPr/>
          <p:nvPr/>
        </p:nvSpPr>
        <p:spPr>
          <a:xfrm>
            <a:off x="8658557" y="2422844"/>
            <a:ext cx="16608" cy="16608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28" name="Shape 25"/>
          <p:cNvSpPr/>
          <p:nvPr/>
        </p:nvSpPr>
        <p:spPr>
          <a:xfrm>
            <a:off x="10079741" y="987533"/>
            <a:ext cx="28496" cy="28496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29" name="Shape 26"/>
          <p:cNvSpPr/>
          <p:nvPr/>
        </p:nvSpPr>
        <p:spPr>
          <a:xfrm>
            <a:off x="9180283" y="4730642"/>
            <a:ext cx="27870" cy="27870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30" name="Shape 27"/>
          <p:cNvSpPr/>
          <p:nvPr/>
        </p:nvSpPr>
        <p:spPr>
          <a:xfrm>
            <a:off x="7051547" y="4594864"/>
            <a:ext cx="14039" cy="14039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31" name="Shape 28"/>
          <p:cNvSpPr/>
          <p:nvPr/>
        </p:nvSpPr>
        <p:spPr>
          <a:xfrm>
            <a:off x="8031518" y="1772877"/>
            <a:ext cx="28790" cy="28790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32" name="Shape 29"/>
          <p:cNvSpPr/>
          <p:nvPr/>
        </p:nvSpPr>
        <p:spPr>
          <a:xfrm>
            <a:off x="7000023" y="2812145"/>
            <a:ext cx="17210" cy="17210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33" name="Shape 30"/>
          <p:cNvSpPr/>
          <p:nvPr/>
        </p:nvSpPr>
        <p:spPr>
          <a:xfrm>
            <a:off x="9958891" y="1129925"/>
            <a:ext cx="14534" cy="14534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34" name="Shape 31"/>
          <p:cNvSpPr/>
          <p:nvPr/>
        </p:nvSpPr>
        <p:spPr>
          <a:xfrm>
            <a:off x="11073848" y="3214319"/>
            <a:ext cx="23639" cy="23639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35" name="Text 32"/>
          <p:cNvSpPr/>
          <p:nvPr/>
        </p:nvSpPr>
        <p:spPr>
          <a:xfrm>
            <a:off x="548640" y="713232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— I'm 20, I love the night sky,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 don't own a telescope.</a:t>
            </a:r>
            <a:endParaRPr lang="en-US" sz="3000" dirty="0"/>
          </a:p>
        </p:txBody>
      </p:sp>
      <p:sp>
        <p:nvSpPr>
          <p:cNvPr id="36" name="Shape 33"/>
          <p:cNvSpPr/>
          <p:nvPr/>
        </p:nvSpPr>
        <p:spPr>
          <a:xfrm>
            <a:off x="548640" y="2203704"/>
            <a:ext cx="109728" cy="109728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37" name="Text 34"/>
          <p:cNvSpPr/>
          <p:nvPr/>
        </p:nvSpPr>
        <p:spPr>
          <a:xfrm>
            <a:off x="822960" y="214884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the kid on the terrace with a phone app, </a:t>
            </a:r>
            <a:r>
              <a:rPr lang="en-US" sz="13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squinting at Jupiter, wondering which smudge is Andromeda.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548640" y="3502152"/>
            <a:ext cx="109728" cy="109728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39" name="Text 36"/>
          <p:cNvSpPr/>
          <p:nvPr/>
        </p:nvSpPr>
        <p:spPr>
          <a:xfrm>
            <a:off x="822960" y="3447288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decent beginner telescope costs more than I can spend. </a:t>
            </a:r>
            <a:r>
              <a:rPr lang="en-US" sz="13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hobby says: wait. Dream later.</a:t>
            </a:r>
            <a:endParaRPr lang="en-US" sz="1350" dirty="0"/>
          </a:p>
        </p:txBody>
      </p:sp>
      <p:sp>
        <p:nvSpPr>
          <p:cNvPr id="40" name="Shape 37"/>
          <p:cNvSpPr/>
          <p:nvPr/>
        </p:nvSpPr>
        <p:spPr>
          <a:xfrm>
            <a:off x="548640" y="4800600"/>
            <a:ext cx="109728" cy="109728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41" name="Text 38"/>
          <p:cNvSpPr/>
          <p:nvPr/>
        </p:nvSpPr>
        <p:spPr>
          <a:xfrm>
            <a:off x="822960" y="4745736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refused to wait. </a:t>
            </a:r>
            <a:r>
              <a:rPr lang="en-US" sz="13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 can't buy the instrument yet, I can build the intelligence around it — the copilot I'll mount my first telescope on, and that every other broke beginner can use tonight, for free.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903720" y="2148840"/>
            <a:ext cx="4709160" cy="2834640"/>
          </a:xfrm>
          <a:prstGeom prst="rect">
            <a:avLst/>
          </a:prstGeom>
          <a:solidFill>
            <a:srgbClr val="0A0A0B"/>
          </a:solidFill>
          <a:ln w="9525">
            <a:solidFill>
              <a:srgbClr val="2E2F3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086600" y="2194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4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5400" dirty="0"/>
          </a:p>
        </p:txBody>
      </p:sp>
      <p:sp>
        <p:nvSpPr>
          <p:cNvPr id="44" name="Text 41"/>
          <p:cNvSpPr/>
          <p:nvPr/>
        </p:nvSpPr>
        <p:spPr>
          <a:xfrm>
            <a:off x="7269480" y="278892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couldn't afford a telescope.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built the next best thing —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made it free for everyone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ever looked up.</a:t>
            </a:r>
            <a:endParaRPr lang="en-US" sz="1550" dirty="0"/>
          </a:p>
        </p:txBody>
      </p:sp>
      <p:sp>
        <p:nvSpPr>
          <p:cNvPr id="45" name="Shape 42"/>
          <p:cNvSpPr/>
          <p:nvPr/>
        </p:nvSpPr>
        <p:spPr>
          <a:xfrm>
            <a:off x="6903720" y="5166360"/>
            <a:ext cx="4709160" cy="1234440"/>
          </a:xfrm>
          <a:prstGeom prst="rect">
            <a:avLst/>
          </a:prstGeom>
          <a:solidFill>
            <a:srgbClr val="0A0A0B"/>
          </a:solidFill>
          <a:ln w="12700">
            <a:solidFill>
              <a:srgbClr val="2E2F33"/>
            </a:solidFill>
            <a:prstDash val="dash"/>
          </a:ln>
        </p:spPr>
      </p:sp>
      <p:sp>
        <p:nvSpPr>
          <p:cNvPr id="46" name="Text 43"/>
          <p:cNvSpPr/>
          <p:nvPr/>
        </p:nvSpPr>
        <p:spPr>
          <a:xfrm>
            <a:off x="6903720" y="516636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PHOTO OF ME / MY SETUP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— personal photo, night-sky shot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7013448" y="5276088"/>
            <a:ext cx="128016" cy="128016"/>
          </a:xfrm>
          <a:prstGeom prst="rect">
            <a:avLst/>
          </a:prstGeom>
          <a:solidFill>
            <a:srgbClr val="0049CD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Rohit Maity/Desktop/coding/Webdev/project/skyguide-ai/frontend/src/assets/logo/logo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Stargazing has a brutal onboarding problem.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5541264" cy="193852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28800"/>
            <a:ext cx="457200" cy="329184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82880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53312" y="1792224"/>
            <a:ext cx="4581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wall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9808" y="2286000"/>
            <a:ext cx="51389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6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capable starter telescope runs ₹20,000–50,000+. Motorized GoTo mounts that find objects for you cost far more. Most beginners never get past this gate — and those who do often buy the wrong scope for their sky.</a:t>
            </a:r>
            <a:endParaRPr lang="en-US" sz="1060" dirty="0"/>
          </a:p>
        </p:txBody>
      </p:sp>
      <p:sp>
        <p:nvSpPr>
          <p:cNvPr id="11" name="Shape 8"/>
          <p:cNvSpPr/>
          <p:nvPr/>
        </p:nvSpPr>
        <p:spPr>
          <a:xfrm>
            <a:off x="6309360" y="1627632"/>
            <a:ext cx="5541264" cy="193852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10528" y="1828800"/>
            <a:ext cx="457200" cy="329184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3" name="Text 10"/>
          <p:cNvSpPr/>
          <p:nvPr/>
        </p:nvSpPr>
        <p:spPr>
          <a:xfrm>
            <a:off x="6510528" y="182880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114032" y="1792224"/>
            <a:ext cx="4581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do I even look at?”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510528" y="2286000"/>
            <a:ext cx="51389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6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13,000+ deep-sky objects. Which are up right now depends on your latitude, the hour, clouds, humidity, moonlight, light pollution and your optics' limiting magnitude. No beginner can compute that — so they point at the Moon and go home.</a:t>
            </a:r>
            <a:endParaRPr lang="en-US" sz="1060" dirty="0"/>
          </a:p>
        </p:txBody>
      </p:sp>
      <p:sp>
        <p:nvSpPr>
          <p:cNvPr id="16" name="Shape 13"/>
          <p:cNvSpPr/>
          <p:nvPr/>
        </p:nvSpPr>
        <p:spPr>
          <a:xfrm>
            <a:off x="548640" y="3785616"/>
            <a:ext cx="5541264" cy="193852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9808" y="3986784"/>
            <a:ext cx="457200" cy="329184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8" name="Text 15"/>
          <p:cNvSpPr/>
          <p:nvPr/>
        </p:nvSpPr>
        <p:spPr>
          <a:xfrm>
            <a:off x="749808" y="398678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353312" y="3950208"/>
            <a:ext cx="4581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Pointing is genuinely hard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49808" y="4443984"/>
            <a:ext cx="51389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6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 star-hopping to a faint galaxy takes practice nobody warns you about. First nights end in frustration, not wonder. The instruments that solve it (GoTo, plate-solving rigs) are exactly the ones beginners can't afford.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6309360" y="3785616"/>
            <a:ext cx="5541264" cy="193852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3986784"/>
            <a:ext cx="457200" cy="329184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23" name="Text 20"/>
          <p:cNvSpPr/>
          <p:nvPr/>
        </p:nvSpPr>
        <p:spPr>
          <a:xfrm>
            <a:off x="6510528" y="398678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114032" y="3950208"/>
            <a:ext cx="4581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doing it alone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510528" y="4443984"/>
            <a:ext cx="51389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6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map of observers near you, no guided first night, nobody to tell you tonight is special. The hobby quietly loses the people who love it most — the ones with big dreams and small budgets.</a:t>
            </a:r>
            <a:endParaRPr lang="en-US" sz="1060" dirty="0"/>
          </a:p>
        </p:txBody>
      </p:sp>
      <p:sp>
        <p:nvSpPr>
          <p:cNvPr id="26" name="Text 23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 </a:t>
            </a:r>
            <a:r>
              <a:rPr lang="en-US" sz="140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astronomy's front door is guarded by money and math. SkyGuide AI removes both.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Rohit Maity/Desktop/coding/Webdev/project/skyguide-ai/frontend/src/assets/logo/logo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PITCH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SkyGuide AI — a free astronomical copilot.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4813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 did it for music and movies. Nobody did it for the night sky.
</a:t>
            </a:r>
            <a:r>
              <a:rPr lang="en-US" sz="14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SkyGuide AI answers one question, continuously and scientifically: </a:t>
            </a:r>
            <a:r>
              <a:rPr lang="en-US" sz="1400" b="1" i="1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should YOU look at, from HERE, with THIS gear, RIGHT NOW?”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3602736" cy="265176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" y="2770632"/>
            <a:ext cx="310896" cy="31089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9" name="Text 6"/>
          <p:cNvSpPr/>
          <p:nvPr/>
        </p:nvSpPr>
        <p:spPr>
          <a:xfrm>
            <a:off x="1225296" y="2715768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knows your sky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68096" y="3337560"/>
            <a:ext cx="31638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astronomy engine (Astropy) transforms 13,311 objects to your horizon every night, scores each by altitude, brightness, moonlight, weather and light pollution — and ranks what's actually worth your evening.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88536" y="2514600"/>
            <a:ext cx="3602736" cy="265176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07992" y="2770632"/>
            <a:ext cx="310896" cy="31089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3" name="Text 10"/>
          <p:cNvSpPr/>
          <p:nvPr/>
        </p:nvSpPr>
        <p:spPr>
          <a:xfrm>
            <a:off x="4965192" y="2715768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knows your gear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507992" y="3337560"/>
            <a:ext cx="31638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Telescope profiles compute focal ratio and limiting magnitude, and hide what your optics physically can't resolve. No telescope yet? Naked-eye and binocular targets still shine — the app grew up with me.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28432" y="2514600"/>
            <a:ext cx="3602736" cy="265176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47888" y="2770632"/>
            <a:ext cx="310896" cy="31089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7" name="Text 14"/>
          <p:cNvSpPr/>
          <p:nvPr/>
        </p:nvSpPr>
        <p:spPr>
          <a:xfrm>
            <a:off x="8705088" y="2715768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guides your hands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8247888" y="3337560"/>
            <a:ext cx="31638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Strap your phone to the tube. Its sensors stream 20× a second; live arrows steer you until you lock on — a ₹0 answer to a ₹50,000 GoTo mount.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5440680"/>
            <a:ext cx="11091672" cy="914400"/>
          </a:xfrm>
          <a:prstGeom prst="rect">
            <a:avLst/>
          </a:prstGeom>
          <a:solidFill>
            <a:srgbClr val="0A0A0B"/>
          </a:solidFill>
          <a:ln w="12700">
            <a:solidFill>
              <a:srgbClr val="0049C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5440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model is the mission: </a:t>
            </a:r>
            <a:r>
              <a:rPr lang="en-US" sz="125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free, forever. Open catalogs, free-tier infrastructure, no ads, no paywall — because the users are people like me, and the sky was never supposed to cost anything.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Rohit Maity/Desktop/coding/Webdev/project/skyguide-ai/frontend/src/assets/logo/logo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platform, nine experiences.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3602736" cy="138988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847088"/>
            <a:ext cx="109728" cy="109728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8" name="Text 5"/>
          <p:cNvSpPr/>
          <p:nvPr/>
        </p:nvSpPr>
        <p:spPr>
          <a:xfrm>
            <a:off x="950976" y="171907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103120"/>
            <a:ext cx="3236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cinematic, personalized sky report — ranked targets, moon dossier, conditions, an all-sky dome chart.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4288536" y="1627632"/>
            <a:ext cx="3602736" cy="138988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71416" y="1847088"/>
            <a:ext cx="109728" cy="109728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12" name="Text 9"/>
          <p:cNvSpPr/>
          <p:nvPr/>
        </p:nvSpPr>
        <p:spPr>
          <a:xfrm>
            <a:off x="4690872" y="171907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· 13k catalog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71416" y="2103120"/>
            <a:ext cx="3236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Messier, NGC &amp; IC object with real imagery, grounded descriptions and live stats &amp; charts.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8028432" y="1627632"/>
            <a:ext cx="3602736" cy="138988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11312" y="1847088"/>
            <a:ext cx="109728" cy="109728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16" name="Text 13"/>
          <p:cNvSpPr/>
          <p:nvPr/>
        </p:nvSpPr>
        <p:spPr>
          <a:xfrm>
            <a:off x="8430768" y="171907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workspace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11312" y="2103120"/>
            <a:ext cx="3236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QR-pair your phone, pick a target card, follow live arrows to lock. The phone shows guidance too.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548640" y="3154680"/>
            <a:ext cx="3602736" cy="138988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1520" y="3374136"/>
            <a:ext cx="109728" cy="109728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20" name="Text 17"/>
          <p:cNvSpPr/>
          <p:nvPr/>
        </p:nvSpPr>
        <p:spPr>
          <a:xfrm>
            <a:off x="950976" y="324612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+ Brief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1520" y="3630168"/>
            <a:ext cx="3236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“Best for you tonight” scoring plus an AI-written morning-paper brief of your night ahead.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4288536" y="3154680"/>
            <a:ext cx="3602736" cy="138988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471416" y="3374136"/>
            <a:ext cx="109728" cy="109728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24" name="Text 21"/>
          <p:cNvSpPr/>
          <p:nvPr/>
        </p:nvSpPr>
        <p:spPr>
          <a:xfrm>
            <a:off x="4690872" y="324612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&amp; daily digest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471416" y="3630168"/>
            <a:ext cx="3236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Great-night alerts, visible ISS passes, “your target sets in 2 weeks” urgency, dark-moon windows.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8028432" y="3154680"/>
            <a:ext cx="3602736" cy="138988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11312" y="3374136"/>
            <a:ext cx="109728" cy="109728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28" name="Text 25"/>
          <p:cNvSpPr/>
          <p:nvPr/>
        </p:nvSpPr>
        <p:spPr>
          <a:xfrm>
            <a:off x="8430768" y="324612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211312" y="3630168"/>
            <a:ext cx="3236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Nearby observers on a privacy-first map, regional chat rooms, consent-gated DMs.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548640" y="4681728"/>
            <a:ext cx="3602736" cy="138988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31520" y="4901184"/>
            <a:ext cx="109728" cy="109728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32" name="Text 29"/>
          <p:cNvSpPr/>
          <p:nvPr/>
        </p:nvSpPr>
        <p:spPr>
          <a:xfrm>
            <a:off x="950976" y="477316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Light Guide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31520" y="5157216"/>
            <a:ext cx="3236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guided journey from “I have a box” to first logged observation — doubles as a live checklist.</a:t>
            </a:r>
            <a:endParaRPr lang="en-US" sz="980" dirty="0"/>
          </a:p>
        </p:txBody>
      </p:sp>
      <p:sp>
        <p:nvSpPr>
          <p:cNvPr id="34" name="Shape 31"/>
          <p:cNvSpPr/>
          <p:nvPr/>
        </p:nvSpPr>
        <p:spPr>
          <a:xfrm>
            <a:off x="4288536" y="4681728"/>
            <a:ext cx="3602736" cy="138988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471416" y="4901184"/>
            <a:ext cx="109728" cy="109728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36" name="Text 33"/>
          <p:cNvSpPr/>
          <p:nvPr/>
        </p:nvSpPr>
        <p:spPr>
          <a:xfrm>
            <a:off x="4690872" y="477316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Astro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4471416" y="5157216"/>
            <a:ext cx="3236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copilot chatbot that sees your live dashboard and hands you buttons, not just answers.</a:t>
            </a:r>
            <a:endParaRPr lang="en-US" sz="980" dirty="0"/>
          </a:p>
        </p:txBody>
      </p:sp>
      <p:sp>
        <p:nvSpPr>
          <p:cNvPr id="38" name="Shape 35"/>
          <p:cNvSpPr/>
          <p:nvPr/>
        </p:nvSpPr>
        <p:spPr>
          <a:xfrm>
            <a:off x="8028432" y="4681728"/>
            <a:ext cx="3602736" cy="138988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211312" y="4901184"/>
            <a:ext cx="109728" cy="109728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40" name="Text 37"/>
          <p:cNvSpPr/>
          <p:nvPr/>
        </p:nvSpPr>
        <p:spPr>
          <a:xfrm>
            <a:off x="8430768" y="477316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&amp; log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8211312" y="5157216"/>
            <a:ext cx="3236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targets, get urgency nudges, one-tap “mark observed” at the moment of lock.</a:t>
            </a:r>
            <a:endParaRPr lang="en-US" sz="980" dirty="0"/>
          </a:p>
        </p:txBody>
      </p:sp>
      <p:sp>
        <p:nvSpPr>
          <p:cNvPr id="42" name="Text 39"/>
          <p:cNvSpPr/>
          <p:nvPr/>
        </p:nvSpPr>
        <p:spPr>
          <a:xfrm>
            <a:off x="548640" y="63276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tile is live in the app today — nothing on this slide is a mock.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Rohit Maity/Desktop/coding/Webdev/project/skyguide-ai/frontend/src/assets/logo/logo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EXPERIENCE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night with SkyGuide, in eight steps.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1627632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  </a:t>
            </a:r>
            <a:r>
              <a:rPr lang="en-US" sz="11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 verify — or skip it; you're in either way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0664" y="2075688"/>
            <a:ext cx="0" cy="118872"/>
          </a:xfrm>
          <a:prstGeom prst="line">
            <a:avLst/>
          </a:prstGeom>
          <a:noFill/>
          <a:ln w="12700">
            <a:solidFill>
              <a:srgbClr val="2E2F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258568"/>
            <a:ext cx="384048" cy="384048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7280" y="219456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your spot   </a:t>
            </a:r>
            <a:r>
              <a:rPr lang="en-US" sz="11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or type-ahead search — no lat/long typing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40664" y="2642616"/>
            <a:ext cx="0" cy="118872"/>
          </a:xfrm>
          <a:prstGeom prst="line">
            <a:avLst/>
          </a:prstGeom>
          <a:noFill/>
          <a:ln w="12700">
            <a:solidFill>
              <a:srgbClr val="2E2F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2825496"/>
            <a:ext cx="384048" cy="384048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97280" y="2761488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gear   </a:t>
            </a:r>
            <a:r>
              <a:rPr lang="en-US" sz="11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from 41 scopes or go custom — optional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40664" y="3209544"/>
            <a:ext cx="0" cy="118872"/>
          </a:xfrm>
          <a:prstGeom prst="line">
            <a:avLst/>
          </a:prstGeom>
          <a:noFill/>
          <a:ln w="12700">
            <a:solidFill>
              <a:srgbClr val="2E2F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3392424"/>
            <a:ext cx="384048" cy="384048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97280" y="332841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Tonight   </a:t>
            </a:r>
            <a:r>
              <a:rPr lang="en-US" sz="11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sky, ranked and scored in seconds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40664" y="3776472"/>
            <a:ext cx="0" cy="118872"/>
          </a:xfrm>
          <a:prstGeom prst="line">
            <a:avLst/>
          </a:prstGeom>
          <a:noFill/>
          <a:ln w="12700">
            <a:solidFill>
              <a:srgbClr val="2E2F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3959352"/>
            <a:ext cx="384048" cy="384048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97280" y="389534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targets   </a:t>
            </a:r>
            <a:r>
              <a:rPr lang="en-US" sz="11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adds to tonight's plan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40664" y="4343400"/>
            <a:ext cx="0" cy="118872"/>
          </a:xfrm>
          <a:prstGeom prst="line">
            <a:avLst/>
          </a:prstGeom>
          <a:noFill/>
          <a:ln w="12700">
            <a:solidFill>
              <a:srgbClr val="2E2F3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27" name="Text 24"/>
          <p:cNvSpPr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97280" y="4462272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the QR   </a:t>
            </a:r>
            <a:r>
              <a:rPr lang="en-US" sz="11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becomes the pointing instrument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40664" y="4910328"/>
            <a:ext cx="0" cy="118872"/>
          </a:xfrm>
          <a:prstGeom prst="line">
            <a:avLst/>
          </a:prstGeom>
          <a:noFill/>
          <a:ln w="12700">
            <a:solidFill>
              <a:srgbClr val="2E2F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8640" y="5093208"/>
            <a:ext cx="384048" cy="384048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31" name="Text 28"/>
          <p:cNvSpPr/>
          <p:nvPr/>
        </p:nvSpPr>
        <p:spPr>
          <a:xfrm>
            <a:off x="548640" y="5093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97280" y="502920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arrows   </a:t>
            </a:r>
            <a:r>
              <a:rPr lang="en-US" sz="11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 right 4°… tilt up 2°… locked ✓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740664" y="5477256"/>
            <a:ext cx="0" cy="118872"/>
          </a:xfrm>
          <a:prstGeom prst="line">
            <a:avLst/>
          </a:prstGeom>
          <a:noFill/>
          <a:ln w="12700">
            <a:solidFill>
              <a:srgbClr val="2E2F3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48640" y="5660136"/>
            <a:ext cx="384048" cy="384048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35" name="Text 32"/>
          <p:cNvSpPr/>
          <p:nvPr/>
        </p:nvSpPr>
        <p:spPr>
          <a:xfrm>
            <a:off x="54864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097280" y="5596128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it   </a:t>
            </a:r>
            <a:r>
              <a:rPr lang="en-US" sz="11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“Mark observed” at the eyepiece — history builds your profile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858000" y="1627632"/>
            <a:ext cx="4754880" cy="2743200"/>
          </a:xfrm>
          <a:prstGeom prst="rect">
            <a:avLst/>
          </a:prstGeom>
          <a:solidFill>
            <a:srgbClr val="0A0A0B"/>
          </a:solidFill>
          <a:ln w="12700">
            <a:solidFill>
              <a:srgbClr val="2E2F33"/>
            </a:solidFill>
            <a:prstDash val="dash"/>
          </a:ln>
        </p:spPr>
      </p:sp>
      <p:sp>
        <p:nvSpPr>
          <p:cNvPr id="38" name="Text 35"/>
          <p:cNvSpPr/>
          <p:nvPr/>
        </p:nvSpPr>
        <p:spPr>
          <a:xfrm>
            <a:off x="6858000" y="1627632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TONIGHT PAGE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targets + sky dome screenshot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967728" y="1737360"/>
            <a:ext cx="128016" cy="12801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40" name="Shape 37"/>
          <p:cNvSpPr/>
          <p:nvPr/>
        </p:nvSpPr>
        <p:spPr>
          <a:xfrm>
            <a:off x="6858000" y="4526280"/>
            <a:ext cx="2286000" cy="1691640"/>
          </a:xfrm>
          <a:prstGeom prst="rect">
            <a:avLst/>
          </a:prstGeom>
          <a:solidFill>
            <a:srgbClr val="0A0A0B"/>
          </a:solidFill>
          <a:ln w="12700">
            <a:solidFill>
              <a:srgbClr val="2E2F33"/>
            </a:solidFill>
            <a:prstDash val="dash"/>
          </a:ln>
        </p:spPr>
      </p:sp>
      <p:sp>
        <p:nvSpPr>
          <p:cNvPr id="41" name="Text 38"/>
          <p:cNvSpPr/>
          <p:nvPr/>
        </p:nvSpPr>
        <p:spPr>
          <a:xfrm>
            <a:off x="6858000" y="452628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GUIDANCE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 screen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967728" y="4636008"/>
            <a:ext cx="128016" cy="12801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43" name="Shape 40"/>
          <p:cNvSpPr/>
          <p:nvPr/>
        </p:nvSpPr>
        <p:spPr>
          <a:xfrm>
            <a:off x="9326880" y="4526280"/>
            <a:ext cx="2286000" cy="1691640"/>
          </a:xfrm>
          <a:prstGeom prst="rect">
            <a:avLst/>
          </a:prstGeom>
          <a:solidFill>
            <a:srgbClr val="0A0A0B"/>
          </a:solidFill>
          <a:ln w="12700">
            <a:solidFill>
              <a:srgbClr val="2E2F33"/>
            </a:solidFill>
            <a:prstDash val="dash"/>
          </a:ln>
        </p:spPr>
      </p:sp>
      <p:sp>
        <p:nvSpPr>
          <p:cNvPr id="44" name="Text 41"/>
          <p:cNvSpPr/>
          <p:nvPr/>
        </p:nvSpPr>
        <p:spPr>
          <a:xfrm>
            <a:off x="9326880" y="452628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PAIRING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modal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9436608" y="4636008"/>
            <a:ext cx="128016" cy="128016"/>
          </a:xfrm>
          <a:prstGeom prst="rect">
            <a:avLst/>
          </a:prstGeom>
          <a:solidFill>
            <a:srgbClr val="0049CD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Rohit Maity/Desktop/coding/Webdev/project/skyguide-ai/frontend/src/assets/logo/logo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services, one contract: science stays in Python.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383280" cy="2148840"/>
          </a:xfrm>
          <a:prstGeom prst="rect">
            <a:avLst/>
          </a:prstGeom>
          <a:solidFill>
            <a:srgbClr val="111214"/>
          </a:solidFill>
          <a:ln w="9525">
            <a:solidFill>
              <a:srgbClr val="2E2F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8928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FRONTEND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24028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· React 19 · Tailwind v4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Tonight · Explore · Community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 second lightweight entry: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align.html — the phone companion PWA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(80 KB gz vs ~1 MB for the SPA)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34840" y="1783080"/>
            <a:ext cx="3383280" cy="2148840"/>
          </a:xfrm>
          <a:prstGeom prst="rect">
            <a:avLst/>
          </a:prstGeom>
          <a:solidFill>
            <a:srgbClr val="111214"/>
          </a:solidFill>
          <a:ln w="12700">
            <a:solidFill>
              <a:srgbClr val="0049C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17720" y="18928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GATEWAY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617720" y="224028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(JWT in HTTP-only cookies)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rooms · QR pairing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engine (10 Hz loop)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· profiles · community · pings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· cron digest · alerts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LLM proxy (Ask Astro, brief)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321040" y="1783080"/>
            <a:ext cx="3319272" cy="2148840"/>
          </a:xfrm>
          <a:prstGeom prst="rect">
            <a:avLst/>
          </a:prstGeom>
          <a:solidFill>
            <a:srgbClr val="111214"/>
          </a:solidFill>
          <a:ln w="9525">
            <a:solidFill>
              <a:srgbClr val="2E2F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0" y="18928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ASTRO ENGINE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503920" y="224028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Astropy · Skyfield · astroquery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transforms · visibility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Moon engine · weather scoring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passes · sky quality (LP atlas)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· 13k catalog API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931920" y="2852928"/>
            <a:ext cx="502920" cy="0"/>
          </a:xfrm>
          <a:prstGeom prst="line">
            <a:avLst/>
          </a:prstGeom>
          <a:noFill/>
          <a:ln w="19050">
            <a:solidFill>
              <a:srgbClr val="1E63FF"/>
            </a:solidFill>
            <a:prstDash val="solid"/>
            <a:headEnd type="triangl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818120" y="2852928"/>
            <a:ext cx="502920" cy="0"/>
          </a:xfrm>
          <a:prstGeom prst="line">
            <a:avLst/>
          </a:prstGeom>
          <a:noFill/>
          <a:ln w="19050">
            <a:solidFill>
              <a:srgbClr val="1E63FF"/>
            </a:solidFill>
            <a:prstDash val="solid"/>
            <a:headEnd type="triangl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434840" y="4343400"/>
            <a:ext cx="3383280" cy="822960"/>
          </a:xfrm>
          <a:prstGeom prst="rect">
            <a:avLst/>
          </a:prstGeom>
          <a:solidFill>
            <a:srgbClr val="0A0A0B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90288" y="4343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 — users · telescopes · 13,311 objects · observations · rooms &amp; messages · notifications · compute cache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126480" y="3931920"/>
            <a:ext cx="0" cy="365760"/>
          </a:xfrm>
          <a:prstGeom prst="line">
            <a:avLst/>
          </a:prstGeom>
          <a:noFill/>
          <a:ln w="19050">
            <a:solidFill>
              <a:srgbClr val="2E2F33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48640" y="4343400"/>
            <a:ext cx="3383280" cy="822960"/>
          </a:xfrm>
          <a:prstGeom prst="rect">
            <a:avLst/>
          </a:prstGeom>
          <a:solidFill>
            <a:srgbClr val="0A0A0B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4088" y="4343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PWA — sensors stream 20 Hz over the pairing socket; guidance streams back at 10 Hz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240280" y="3931920"/>
            <a:ext cx="0" cy="365760"/>
          </a:xfrm>
          <a:prstGeom prst="line">
            <a:avLst/>
          </a:prstGeom>
          <a:noFill/>
          <a:ln w="19050">
            <a:solidFill>
              <a:srgbClr val="2E2F33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8321040" y="4343400"/>
            <a:ext cx="3319272" cy="822960"/>
          </a:xfrm>
          <a:prstGeom prst="rect">
            <a:avLst/>
          </a:prstGeom>
          <a:solidFill>
            <a:srgbClr val="0A0A0B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76488" y="4343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data — OpenWeather · Celestrak · SIMBAD · OpenNGC · Wikipedia · light-pollution atlas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9966960" y="3931920"/>
            <a:ext cx="0" cy="365760"/>
          </a:xfrm>
          <a:prstGeom prst="line">
            <a:avLst/>
          </a:prstGeom>
          <a:noFill/>
          <a:ln w="19050">
            <a:solidFill>
              <a:srgbClr val="2E2F33"/>
            </a:solidFill>
            <a:prstDash val="solid"/>
            <a:tailEnd type="triangle"/>
          </a:ln>
        </p:spPr>
      </p:sp>
      <p:sp>
        <p:nvSpPr>
          <p:cNvPr id="26" name="Text 23"/>
          <p:cNvSpPr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rule that shaped everything: </a:t>
            </a:r>
            <a:r>
              <a:rPr lang="en-US" sz="12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never does astronomy, Express never does astronomy — all science lives in Python. CPU-heavy math can never block the realtime socket loop, and each service scales alone.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Rohit Maity/Desktop/coding/Webdev/project/skyguide-ai/frontend/src/assets/logo/logo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SCIENCE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“what should I look at?” actually gets computed.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675120" cy="65836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6656" y="1837944"/>
            <a:ext cx="365760" cy="365760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8" name="Text 5"/>
          <p:cNvSpPr/>
          <p:nvPr/>
        </p:nvSpPr>
        <p:spPr>
          <a:xfrm>
            <a:off x="676656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70432" y="169164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 </a:t>
            </a: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13,311 objects with RA/DEC, magnitude, size, type — seeded from SIMBAD + OpenNGC, enriched with Wikipedia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59536" y="2350008"/>
            <a:ext cx="0" cy="91440"/>
          </a:xfrm>
          <a:prstGeom prst="line">
            <a:avLst/>
          </a:prstGeom>
          <a:noFill/>
          <a:ln w="19050">
            <a:solidFill>
              <a:srgbClr val="0049C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441448"/>
            <a:ext cx="6675120" cy="65836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6656" y="2587752"/>
            <a:ext cx="365760" cy="365760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3" name="Text 10"/>
          <p:cNvSpPr/>
          <p:nvPr/>
        </p:nvSpPr>
        <p:spPr>
          <a:xfrm>
            <a:off x="676656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70432" y="244144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  </a:t>
            </a: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vectorized Astropy transform maps every object to YOUR horizon (altitude / azimuth) at this instant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59536" y="3099816"/>
            <a:ext cx="0" cy="91440"/>
          </a:xfrm>
          <a:prstGeom prst="line">
            <a:avLst/>
          </a:prstGeom>
          <a:noFill/>
          <a:ln w="19050">
            <a:solidFill>
              <a:srgbClr val="0049C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3191256"/>
            <a:ext cx="6675120" cy="65836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76656" y="3337560"/>
            <a:ext cx="365760" cy="365760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70432" y="3191256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score  </a:t>
            </a: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altitude + 20% brightness + 10% apparent size — normalized 0–100, deterministic and explainable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59536" y="3849624"/>
            <a:ext cx="0" cy="91440"/>
          </a:xfrm>
          <a:prstGeom prst="line">
            <a:avLst/>
          </a:prstGeom>
          <a:noFill/>
          <a:ln w="19050">
            <a:solidFill>
              <a:srgbClr val="0049C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3941064"/>
            <a:ext cx="6675120" cy="65836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76656" y="4087368"/>
            <a:ext cx="365760" cy="365760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23" name="Text 20"/>
          <p:cNvSpPr/>
          <p:nvPr/>
        </p:nvSpPr>
        <p:spPr>
          <a:xfrm>
            <a:off x="676656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70432" y="3941064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 reality  </a:t>
            </a: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Moon proximity penalty, airmass, rise/set urgency, live weather score, Bortle-scale light pollution from a real atlas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59536" y="4599432"/>
            <a:ext cx="0" cy="91440"/>
          </a:xfrm>
          <a:prstGeom prst="line">
            <a:avLst/>
          </a:prstGeom>
          <a:noFill/>
          <a:ln w="19050">
            <a:solidFill>
              <a:srgbClr val="0049C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8640" y="4690872"/>
            <a:ext cx="6675120" cy="65836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6656" y="4837176"/>
            <a:ext cx="365760" cy="365760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28" name="Text 25"/>
          <p:cNvSpPr/>
          <p:nvPr/>
        </p:nvSpPr>
        <p:spPr>
          <a:xfrm>
            <a:off x="676656" y="4837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70432" y="469087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hardware  </a:t>
            </a: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Limiting magnitude ≈ 7.5 + 5·log₁₀(aperture cm) — objects your optics can't resolve are dropped, not dimmed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59536" y="5349240"/>
            <a:ext cx="0" cy="91440"/>
          </a:xfrm>
          <a:prstGeom prst="line">
            <a:avLst/>
          </a:prstGeom>
          <a:noFill/>
          <a:ln w="19050">
            <a:solidFill>
              <a:srgbClr val="0049C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48640" y="5440680"/>
            <a:ext cx="6675120" cy="658368"/>
          </a:xfrm>
          <a:prstGeom prst="rect">
            <a:avLst/>
          </a:prstGeom>
          <a:solidFill>
            <a:srgbClr val="17181B"/>
          </a:solidFill>
          <a:ln w="9525">
            <a:solidFill>
              <a:srgbClr val="0049C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76656" y="5586984"/>
            <a:ext cx="365760" cy="365760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33" name="Text 30"/>
          <p:cNvSpPr/>
          <p:nvPr/>
        </p:nvSpPr>
        <p:spPr>
          <a:xfrm>
            <a:off x="676656" y="5586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170432" y="544068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Tonight, ranked  </a:t>
            </a: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scored, filtered, human-readable list — with the reasons attached to every recommendation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7543800" y="1691640"/>
            <a:ext cx="4069080" cy="96012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671816" y="1783080"/>
            <a:ext cx="3813048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5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~5.5 ms</a:t>
            </a:r>
            <a:endParaRPr lang="en-US" sz="2600" dirty="0"/>
          </a:p>
        </p:txBody>
      </p:sp>
      <p:sp>
        <p:nvSpPr>
          <p:cNvPr id="37" name="Text 34"/>
          <p:cNvSpPr/>
          <p:nvPr/>
        </p:nvSpPr>
        <p:spPr>
          <a:xfrm>
            <a:off x="7671816" y="2248510"/>
            <a:ext cx="3813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compute for the original 110-object catalog — transform, score, rank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7543800" y="2788920"/>
            <a:ext cx="4069080" cy="96012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671816" y="2880360"/>
            <a:ext cx="3813048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5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~2.4 s</a:t>
            </a:r>
            <a:endParaRPr lang="en-US" sz="2600" dirty="0"/>
          </a:p>
        </p:txBody>
      </p:sp>
      <p:sp>
        <p:nvSpPr>
          <p:cNvPr id="40" name="Text 37"/>
          <p:cNvSpPr/>
          <p:nvPr/>
        </p:nvSpPr>
        <p:spPr>
          <a:xfrm>
            <a:off x="7671816" y="3345790"/>
            <a:ext cx="3813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all 13,311 objects, warm — after the Day-12 scale fixes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7543800" y="3886200"/>
            <a:ext cx="4069080" cy="96012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671816" y="3977640"/>
            <a:ext cx="3813048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5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 s</a:t>
            </a:r>
            <a:endParaRPr lang="en-US" sz="2600" dirty="0"/>
          </a:p>
        </p:txBody>
      </p:sp>
      <p:sp>
        <p:nvSpPr>
          <p:cNvPr id="43" name="Text 40"/>
          <p:cNvSpPr/>
          <p:nvPr/>
        </p:nvSpPr>
        <p:spPr>
          <a:xfrm>
            <a:off x="7671816" y="4443070"/>
            <a:ext cx="3813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recommendations, cached — down from 40 s (more on that later)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7543800" y="4983480"/>
            <a:ext cx="4069080" cy="96012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671816" y="5074920"/>
            <a:ext cx="3813048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5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guesses</a:t>
            </a:r>
            <a:endParaRPr lang="en-US" sz="2600" dirty="0"/>
          </a:p>
        </p:txBody>
      </p:sp>
      <p:sp>
        <p:nvSpPr>
          <p:cNvPr id="46" name="Text 43"/>
          <p:cNvSpPr/>
          <p:nvPr/>
        </p:nvSpPr>
        <p:spPr>
          <a:xfrm>
            <a:off x="7671816" y="5540350"/>
            <a:ext cx="3813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score is deterministic physics + geometry — the ML ranker slot is reserved, honest, and empty until there's data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Rohit Maity/Desktop/coding/Webdev/project/skyguide-ai/frontend/src/assets/logo/logo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INSTRUMENT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phone becomes the telescope's brain.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6720840" cy="93268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" y="1828800"/>
            <a:ext cx="237744" cy="237744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8" name="Text 5"/>
          <p:cNvSpPr/>
          <p:nvPr/>
        </p:nvSpPr>
        <p:spPr>
          <a:xfrm>
            <a:off x="1078992" y="1737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78992" y="2075688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DeviceOrientation + magnetometer stream at 20 Hz — no app store, no install, just a QR scan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548640" y="2706624"/>
            <a:ext cx="6720840" cy="93268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2871216"/>
            <a:ext cx="237744" cy="237744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2" name="Text 9"/>
          <p:cNvSpPr/>
          <p:nvPr/>
        </p:nvSpPr>
        <p:spPr>
          <a:xfrm>
            <a:off x="1078992" y="277977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 model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78992" y="3118104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On-phone engine fuses to a calibrated quaternion with confidence grades — no raw browser event ever leaves the phone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548640" y="3749040"/>
            <a:ext cx="6720840" cy="93268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" y="3913632"/>
            <a:ext cx="237744" cy="237744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6" name="Text 13"/>
          <p:cNvSpPr/>
          <p:nvPr/>
        </p:nvSpPr>
        <p:spPr>
          <a:xfrm>
            <a:off x="1078992" y="38221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engine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78992" y="416052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holds the target's ephemeris segment (FastAPI-computed, drift-extrapolated to ≤0.00001°) and compares every packet in microseconds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548640" y="4791456"/>
            <a:ext cx="6720840" cy="93268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3232" y="4956048"/>
            <a:ext cx="237744" cy="23774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7"/>
          <p:cNvSpPr/>
          <p:nvPr/>
        </p:nvSpPr>
        <p:spPr>
          <a:xfrm>
            <a:off x="1078992" y="48646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78992" y="5202936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“Pan right 4° · tilt up 2°” at 10 Hz to BOTH screens — with a hysteresis lock that doesn't flicker when your hands tremble</a:t>
            </a:r>
            <a:endParaRPr lang="en-US" sz="1020" dirty="0"/>
          </a:p>
        </p:txBody>
      </p:sp>
      <p:sp>
        <p:nvSpPr>
          <p:cNvPr id="22" name="Text 19"/>
          <p:cNvSpPr/>
          <p:nvPr/>
        </p:nvSpPr>
        <p:spPr>
          <a:xfrm>
            <a:off x="548640" y="59436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Field-tested: </a:t>
            </a:r>
            <a:r>
              <a:rPr lang="en-US" sz="11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pointing error converged 20.86° → 0.02° in a live run; screen wake-lock keeps the stream alive at the eyepiece.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589520" y="1664208"/>
            <a:ext cx="1965960" cy="118872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17536" y="1755648"/>
            <a:ext cx="1709928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5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&lt;100 ms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7717536" y="2353666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phone-to-dashboard round trip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692640" y="1664208"/>
            <a:ext cx="1938528" cy="118872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20656" y="1755648"/>
            <a:ext cx="1682496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5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Hz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9820656" y="2353666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stream over one socket room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589520" y="2990088"/>
            <a:ext cx="1965960" cy="118872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17536" y="3081528"/>
            <a:ext cx="1709928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5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1.2°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7717536" y="3679546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threshold with two-sided hysteresis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9692640" y="2990088"/>
            <a:ext cx="1938528" cy="118872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820656" y="3081528"/>
            <a:ext cx="1682496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5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KB</a:t>
            </a:r>
            <a:endParaRPr lang="en-US" sz="2600" dirty="0"/>
          </a:p>
        </p:txBody>
      </p:sp>
      <p:sp>
        <p:nvSpPr>
          <p:cNvPr id="34" name="Text 31"/>
          <p:cNvSpPr/>
          <p:nvPr/>
        </p:nvSpPr>
        <p:spPr>
          <a:xfrm>
            <a:off x="9820656" y="3679546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bundle (gz) — 12× lighter than the SPA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589520" y="4315968"/>
            <a:ext cx="4041648" cy="2148840"/>
          </a:xfrm>
          <a:prstGeom prst="rect">
            <a:avLst/>
          </a:prstGeom>
          <a:solidFill>
            <a:srgbClr val="0A0A0B"/>
          </a:solidFill>
          <a:ln w="12700">
            <a:solidFill>
              <a:srgbClr val="2E2F33"/>
            </a:solidFill>
            <a:prstDash val="dash"/>
          </a:ln>
        </p:spPr>
      </p:sp>
      <p:sp>
        <p:nvSpPr>
          <p:cNvPr id="36" name="Text 33"/>
          <p:cNvSpPr/>
          <p:nvPr/>
        </p:nvSpPr>
        <p:spPr>
          <a:xfrm>
            <a:off x="7589520" y="4315968"/>
            <a:ext cx="40416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WORKSPACE + PHONE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side-by-side: desktop guide viewport &amp; phone arrows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699248" y="4425696"/>
            <a:ext cx="128016" cy="128016"/>
          </a:xfrm>
          <a:prstGeom prst="rect">
            <a:avLst/>
          </a:prstGeom>
          <a:solidFill>
            <a:srgbClr val="0049CD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Rohit Maity/Desktop/coding/Webdev/project/skyguide-ai/frontend/src/assets/logo/logo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 — boring where it should be, sharp where it counts.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3602736" cy="489204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17739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Vite</a:t>
            </a:r>
            <a:r>
              <a:rPr lang="en-US" sz="93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two entries: SPA + phone PWA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49808" y="272491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v4</a:t>
            </a:r>
            <a:r>
              <a:rPr lang="en-US" sz="93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design tokens, radius-0 system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9808" y="323697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GSAP + ScrollTrigger</a:t>
            </a:r>
            <a:r>
              <a:rPr lang="en-US" sz="93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scroll-driven cinematics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9808" y="37490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</a:t>
            </a:r>
            <a:r>
              <a:rPr lang="en-US" sz="93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pointer-driven micro-motion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49808" y="426110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</a:t>
            </a:r>
            <a:r>
              <a:rPr lang="en-US" sz="93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starfields &amp; sky scenes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49808" y="477316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React Query</a:t>
            </a:r>
            <a:r>
              <a:rPr lang="en-US" sz="93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server state, cache dedupe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49808" y="528523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MapLibre GL + CARTO</a:t>
            </a:r>
            <a:r>
              <a:rPr lang="en-US" sz="93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community observer map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49808" y="579729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+ shadcn/ui</a:t>
            </a:r>
            <a:r>
              <a:rPr lang="en-US" sz="93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Explore data-viz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49808" y="63093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socket.io-client · axios · qrcode.react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88536" y="1627632"/>
            <a:ext cx="3602736" cy="489204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89704" y="17739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(Node.js)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489704" y="221284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5</a:t>
            </a:r>
            <a:r>
              <a:rPr lang="en-US" sz="93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REST API v1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489704" y="272491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4</a:t>
            </a:r>
            <a:r>
              <a:rPr lang="en-US" sz="93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pairing rooms, chat, alerts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489704" y="323697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Mongoose 9</a:t>
            </a:r>
            <a:r>
              <a:rPr lang="en-US" sz="93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MongoDB Atlas ODM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489704" y="37490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jsonwebtoken + bcryptjs</a:t>
            </a:r>
            <a:r>
              <a:rPr lang="en-US" sz="93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cookie sessions, OTP hashing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489704" y="426110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helmet · cors · rate-limit</a:t>
            </a:r>
            <a:r>
              <a:rPr lang="en-US" sz="93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hardening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489704" y="477316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node-cron</a:t>
            </a:r>
            <a:r>
              <a:rPr lang="en-US" sz="93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daily digest + event alerts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489704" y="528523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nodemailer</a:t>
            </a:r>
            <a:r>
              <a:rPr lang="en-US" sz="93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branded HTML email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489704" y="579729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groq-sdk</a:t>
            </a:r>
            <a:r>
              <a:rPr lang="en-US" sz="93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Ask Astro + Tonight's Brief LLM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028432" y="1627632"/>
            <a:ext cx="3602736" cy="489204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29600" y="17739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ASTRO ENGINE (Python)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8229600" y="221284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Uvicorn</a:t>
            </a:r>
            <a:r>
              <a:rPr lang="en-US" sz="93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typed, self-documenting API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229600" y="272491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Astropy 8</a:t>
            </a:r>
            <a:r>
              <a:rPr lang="en-US" sz="93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coordinates, ephemerides, time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229600" y="323697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Skyfield + Celestrak TLE</a:t>
            </a:r>
            <a:r>
              <a:rPr lang="en-US" sz="93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ISS / satellite passes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229600" y="37490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astroquery (SIMBAD TAP)</a:t>
            </a:r>
            <a:r>
              <a:rPr lang="en-US" sz="93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catalog seeding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8229600" y="426110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astroplan</a:t>
            </a:r>
            <a:r>
              <a:rPr lang="en-US" sz="93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oracle for validating moon math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8229600" y="477316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+ pandas</a:t>
            </a:r>
            <a:r>
              <a:rPr lang="en-US" sz="93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vectorized pipelines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8229600" y="528523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(reserved)</a:t>
            </a:r>
            <a:r>
              <a:rPr lang="en-US" sz="93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the Phase-C ML ranker slot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8229600" y="579729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/ PyMongo</a:t>
            </a:r>
            <a:r>
              <a:rPr lang="en-US" sz="93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async Mongo access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Rohit Maity/Desktop/coding/Webdev/project/skyguide-ai/frontend/src/assets/logo/logo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SERVICES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outside services. Combined bill: ₹0.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3602736" cy="105156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719072"/>
            <a:ext cx="3236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database — free tier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users, catalog, chat, cache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88536" y="1627632"/>
            <a:ext cx="3602736" cy="105156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71416" y="1719072"/>
            <a:ext cx="3236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OpenWeather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conditions — free tier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cloud, humidity, wind → observing score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28432" y="1627632"/>
            <a:ext cx="3602736" cy="105156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11312" y="1719072"/>
            <a:ext cx="3236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(Llama)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LLM inference — free tier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Astro chat + Tonight's Brief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807208"/>
            <a:ext cx="3602736" cy="105156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898648"/>
            <a:ext cx="3236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SIMBAD TAP (CDS)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astronomical database — open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Messier seed: coordinates, types, aliases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88536" y="2807208"/>
            <a:ext cx="3602736" cy="105156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71416" y="2898648"/>
            <a:ext cx="3236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OpenNGC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dataset — CC-BY-SA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13k NGC/IC objects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028432" y="2807208"/>
            <a:ext cx="3602736" cy="105156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11312" y="2898648"/>
            <a:ext cx="3236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Wikipedia / Commons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knowledge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prose + real photography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3986784"/>
            <a:ext cx="3602736" cy="105156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4078224"/>
            <a:ext cx="3236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 hips2fits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sky-survey imagery — open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DSS image for every object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288536" y="3986784"/>
            <a:ext cx="3602736" cy="105156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71416" y="4078224"/>
            <a:ext cx="3236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Celestrak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TLEs — open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 pass prediction (24 h cached)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028432" y="3986784"/>
            <a:ext cx="3602736" cy="105156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11312" y="4078224"/>
            <a:ext cx="3236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Lorenz LP Atlas 2024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light-pollution data — open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Bortle class + darker-site ladder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5166360"/>
            <a:ext cx="3602736" cy="105156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" y="5257800"/>
            <a:ext cx="3236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 + OSM tiles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basemap — free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observer map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288536" y="5166360"/>
            <a:ext cx="3602736" cy="105156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71416" y="5257800"/>
            <a:ext cx="3236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Nominatim (OSM)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geocoding — free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search + reverse geocode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028432" y="5166360"/>
            <a:ext cx="3602736" cy="105156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11312" y="5257800"/>
            <a:ext cx="3236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Tunnel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tunneling — free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sensors need a secure origin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 everywhere (Mongo TTL + stale-while-revalidate) keeps every provider inside its free tier — by design, not luck.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Rohit Maity/Desktop/coding/Webdev/project/skyguide-ai/frontend/src/assets/logo/logo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monorepo with honest borders.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5852160" cy="4846320"/>
          </a:xfrm>
          <a:prstGeom prst="rect">
            <a:avLst/>
          </a:prstGeom>
          <a:solidFill>
            <a:srgbClr val="0A0A0B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783080"/>
            <a:ext cx="54406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DAD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skyguide-ai/</a:t>
            </a:r>
            <a:endParaRPr lang="en-US" sz="92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DAD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frontend/                  React 19 + Vite</a:t>
            </a:r>
            <a:endParaRPr lang="en-US" sz="92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DAD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index.html             the SPA</a:t>
            </a:r>
            <a:endParaRPr lang="en-US" sz="92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DAD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align.html             phone companion entry</a:t>
            </a:r>
            <a:endParaRPr lang="en-US" sz="92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DAD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src/</a:t>
            </a:r>
            <a:endParaRPr lang="en-US" sz="92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DAD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 pages/  components/  hooks/</a:t>
            </a:r>
            <a:endParaRPr lang="en-US" sz="92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DAD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 context/  services/  align/</a:t>
            </a:r>
            <a:endParaRPr lang="en-US" sz="92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DAD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 components/fx/     motion primitives</a:t>
            </a:r>
            <a:endParaRPr lang="en-US" sz="92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DAD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 config/brand.js    ONE knob for the logo</a:t>
            </a:r>
            <a:endParaRPr lang="en-US" sz="92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DAD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server-gateway/            Express 5</a:t>
            </a:r>
            <a:endParaRPr lang="en-US" sz="92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DAD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src/</a:t>
            </a:r>
            <a:endParaRPr lang="en-US" sz="92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DAD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 controllers/  routes/  models/</a:t>
            </a:r>
            <a:endParaRPr lang="en-US" sz="92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DAD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 services/  sockets/  jobs/</a:t>
            </a:r>
            <a:endParaRPr lang="en-US" sz="92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DAD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 middleware/  utils/  config/</a:t>
            </a:r>
            <a:endParaRPr lang="en-US" sz="92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DAD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 tests/</a:t>
            </a:r>
            <a:endParaRPr lang="en-US" sz="92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DAD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astro-engine/              FastAPI</a:t>
            </a:r>
            <a:endParaRPr lang="en-US" sz="92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DAD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app/api/  core/  models/</a:t>
            </a:r>
            <a:endParaRPr lang="en-US" sz="92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DAD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  schemas/  services/</a:t>
            </a:r>
            <a:endParaRPr lang="en-US" sz="92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DAD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scripts/               catalog seeders</a:t>
            </a:r>
            <a:endParaRPr lang="en-US" sz="92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DAD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scripts/                   one-command dev runner</a:t>
            </a:r>
            <a:endParaRPr lang="en-US" sz="92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DAD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docs/day-1 … day-14       the build journal</a:t>
            </a:r>
            <a:endParaRPr lang="en-US" sz="920" dirty="0"/>
          </a:p>
        </p:txBody>
      </p:sp>
      <p:sp>
        <p:nvSpPr>
          <p:cNvPr id="8" name="Shape 5"/>
          <p:cNvSpPr/>
          <p:nvPr/>
        </p:nvSpPr>
        <p:spPr>
          <a:xfrm>
            <a:off x="6675120" y="1627632"/>
            <a:ext cx="4956048" cy="111556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76288" y="1719072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 stay thin
</a:t>
            </a: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 lives in services/ on every tier — the same shape in JS and Python.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675120" y="2871216"/>
            <a:ext cx="4956048" cy="111556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76288" y="2962656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stay small
</a:t>
            </a: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~250-line ceiling; shared motion in fx/; every API call goes through a service module, never inline axios.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75120" y="4114800"/>
            <a:ext cx="4956048" cy="111556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76288" y="4206240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 to run it all
</a:t>
            </a: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dev boots all three services; dev:lan and dev:tunnel flip networking by env var only.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675120" y="5358384"/>
            <a:ext cx="4956048" cy="111556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76288" y="5449824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 is a real journal
</a:t>
            </a:r>
            <a:r>
              <a:rPr lang="en-US" sz="10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fourteen day-reports written as the build happened — this deck's day-by-day section is lifted straight from them.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Rohit Maity/Desktop/coding/Webdev/project/skyguide-ai/frontend/src/assets/logo/logo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JOURNEY · 1 OF 4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1–4 — Foundations.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one from the first commit: never trade architecture for convenience.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11091672" cy="1026414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2140839"/>
            <a:ext cx="713232" cy="49377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2140839"/>
            <a:ext cx="713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00200" y="1947672"/>
            <a:ext cx="283464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&amp; database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0" y="1947672"/>
            <a:ext cx="685800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2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bootstrapped production-grade (helmet, CORS, compression, rate limiting). Full auth: register, email verification, JWT in HTTP-only cookies — never localStorage — forgot/reset password, protected routes. MongoDB Atlas schemas with geospatial user locations.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548640" y="3028950"/>
            <a:ext cx="11091672" cy="1026414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" y="3295269"/>
            <a:ext cx="713232" cy="49377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32" y="3295269"/>
            <a:ext cx="713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600200" y="3102102"/>
            <a:ext cx="283464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astronomy engine is born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0" y="3102102"/>
            <a:ext cx="685800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2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service scaffolded with its own Python venv: Astropy, Astroplan, Skyfield, astroquery, scikit-learn. The microservice boundary drawn on day two — science would never live anywhere else.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548640" y="4183380"/>
            <a:ext cx="11091672" cy="1026414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9699"/>
            <a:ext cx="713232" cy="49377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4449699"/>
            <a:ext cx="713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600200" y="4256532"/>
            <a:ext cx="283464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pairing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0" y="4256532"/>
            <a:ext cx="685800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2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rooms + a QR pairing token system: laptop creates a room, phone scans, both join a JWT-guarded socket room. The distributed-state model every later realtime feature stands on.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548640" y="5337810"/>
            <a:ext cx="11091672" cy="1026414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3232" y="5604129"/>
            <a:ext cx="713232" cy="49377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24" name="Text 21"/>
          <p:cNvSpPr/>
          <p:nvPr/>
        </p:nvSpPr>
        <p:spPr>
          <a:xfrm>
            <a:off x="713232" y="5604129"/>
            <a:ext cx="713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600200" y="5410962"/>
            <a:ext cx="283464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takes shape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0" y="5410962"/>
            <a:ext cx="685800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2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AuthContext + ProtectedRoute architecture, the observer-location workflow (GPS + manual fallback), and the first astronomy dashboard cards. The app stops being a demo login page.</a:t>
            </a:r>
            <a:endParaRPr lang="en-US" sz="10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Rohit Maity/Desktop/coding/Webdev/project/skyguide-ai/frontend/src/assets/logo/logo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JOURNEY · 2 OF 4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5–8 — The science and the instrument.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 the app learned where everything in the sky actually is.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11091672" cy="1026414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2140839"/>
            <a:ext cx="713232" cy="49377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2140839"/>
            <a:ext cx="713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00200" y="1947672"/>
            <a:ext cx="283464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Catalog, visibility, weather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0" y="1947672"/>
            <a:ext cx="685800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2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 Messier objects seeded from SIMBAD (after astroquery crashed — first real fight). Visibility engine: vectorized transforms + explainable scoring, ~5.5 ms for the whole sky. OpenWeather integration with observing-quality scoring and Mongo TTL caching. Local/LAN/tunnel networking modes.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548640" y="3028950"/>
            <a:ext cx="11091672" cy="1026414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" y="3295269"/>
            <a:ext cx="713232" cy="49377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32" y="3295269"/>
            <a:ext cx="713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D6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600200" y="3102102"/>
            <a:ext cx="283464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Telescope &amp; Moon engines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0" y="3102102"/>
            <a:ext cx="685800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2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Telescope backend (dedicated collection, server-computed focal ratio, 41-scope picker) and a full lunar engine: phase, illumination, rise/set — validated against astroplan to 0.05%.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548640" y="4183380"/>
            <a:ext cx="11091672" cy="1026414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9699"/>
            <a:ext cx="713232" cy="49377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4449699"/>
            <a:ext cx="713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600200" y="4256532"/>
            <a:ext cx="283464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phone starts streaming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0" y="4256532"/>
            <a:ext cx="685800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2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acquisition + 20 Hz streaming over the pairing socket, then the orientation &amp; calibration engine: fused quaternions, confidence grades, iOS quirks. orientation_update becomes the single source of truth.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548640" y="5337810"/>
            <a:ext cx="11091672" cy="1026414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3232" y="5604129"/>
            <a:ext cx="713232" cy="49377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24" name="Text 21"/>
          <p:cNvSpPr/>
          <p:nvPr/>
        </p:nvSpPr>
        <p:spPr>
          <a:xfrm>
            <a:off x="713232" y="5604129"/>
            <a:ext cx="713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D8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600200" y="5410962"/>
            <a:ext cx="283464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alignment engine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0" y="5410962"/>
            <a:ext cx="685800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2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computes ephemeris segments with drift rates; the gateway extrapolates (≤0.00001° error) and runs per-packet spherical geometry with a hysteresis lock state machine. Live test: 20.86° → 0.02°.</a:t>
            </a:r>
            <a:endParaRPr lang="en-US" sz="10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Rohit Maity/Desktop/coding/Webdev/project/skyguide-ai/frontend/src/assets/logo/logo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JOURNEY · 3 OF 4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9–11 — An engine becomes a product.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 works” is not the same as “someone loves using it.”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11091672" cy="1411224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2333244"/>
            <a:ext cx="713232" cy="49377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2333244"/>
            <a:ext cx="713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D9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00200" y="1947672"/>
            <a:ext cx="283464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layer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0" y="1947672"/>
            <a:ext cx="685800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2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codified; the cinematic /tonight sky report (three.js starfield, sky dome, deep-sky ledger); moon-aware scoring, rise/set urgency and ISS passes in the engine; planner + target panels + guided observe flow; auth UX; user profiles.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548640" y="3413760"/>
            <a:ext cx="11091672" cy="1411224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" y="3872484"/>
            <a:ext cx="713232" cy="49377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32" y="3872484"/>
            <a:ext cx="713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D10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600200" y="3486912"/>
            <a:ext cx="283464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first community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0" y="3486912"/>
            <a:ext cx="685800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2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Light Guide — a public 9-step walk from sign-up to first logged observation. Then Redesign v2 “Bento / Electric Blue”: pure black, one blue, radius 0, Satoshi — applied page by page with zero functional change. Community Phase A: privacy-first nearby observers.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548640" y="4953000"/>
            <a:ext cx="11091672" cy="1411224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5411724"/>
            <a:ext cx="713232" cy="49377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5411724"/>
            <a:ext cx="713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D11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600200" y="5026152"/>
            <a:ext cx="283464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paths through it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0" y="5026152"/>
            <a:ext cx="685800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2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becomes a real /alignment workspace (one click from “start observing” to guidance). Community map on coarse geohash cells. Sign-up rebuilt after four stacked auth bugs — including a user-enumeration leak — became a 6-digit OTP flow. Notifications: daily digest + in-app centre. Feature 8: personalized recommendations, light-pollution sky quality, an LLM-written nightly brief, and a chatbot that hands you buttons.</a:t>
            </a:r>
            <a:endParaRPr lang="en-US" sz="10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Rohit Maity/Desktop/coding/Webdev/project/skyguide-ai/frontend/src/assets/logo/logo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JOURNEY · 4 OF 4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12–14 — Scale, polish, instrument.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120× overnight, then making it feel finished.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11091672" cy="1411224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2333244"/>
            <a:ext cx="713232" cy="49377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2333244"/>
            <a:ext cx="713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00200" y="1947672"/>
            <a:ext cx="283464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13,311 objects &amp; event alerts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0" y="1947672"/>
            <a:ext cx="685800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2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grows 110 → 13,311 (OpenNGC + Wikipedia enrichment, a real image for every object) + the /explore page. Event alerts ship — after fixing the engine reporting invisible midday ISS passes. Then everything that breaks at 120× scale gets fixed: 40 s recommendations → 4–7 s → 0.65 s cached.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548640" y="3413760"/>
            <a:ext cx="11091672" cy="1411224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" y="3872484"/>
            <a:ext cx="713232" cy="49377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32" y="3872484"/>
            <a:ext cx="713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600200" y="3486912"/>
            <a:ext cx="283464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finish coat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0" y="3486912"/>
            <a:ext cx="685800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2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responsive navbar everywhere, the Guide rebuilt as a scroll journey, the chatbot taught the whole 13k catalog behind a hardened allowlist (15/15 hostile-input tests), plus the details a shipped app is judged on: page titles, 404, scroll restore, toasts, blur-up images.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548640" y="4953000"/>
            <a:ext cx="11091672" cy="1411224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5411724"/>
            <a:ext cx="713232" cy="49377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5411724"/>
            <a:ext cx="713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600200" y="5026152"/>
            <a:ext cx="283464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phone becomes an instrument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0" y="5026152"/>
            <a:ext cx="685800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2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companion gets its own 80 KB entry (align.html) — the worst-connected client stops downloading a 1 MB SPA. Installable PWA, screen wake-lock, full-screen permission flow, and live guidance arrows on the phone itself — because the laptop is three steps away in the dark.</a:t>
            </a:r>
            <a:endParaRPr lang="en-US" sz="10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Rohit Maity/Desktop/coding/Webdev/project/skyguide-ai/frontend/src/assets/logo/logo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PARTS · 1 OF 2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Difficulties: the bugs that taught the most.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96112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618488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alignment packet silently vanished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160520" y="1618488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drops a volatile broadcast 100% of the time if the same tick already relayed the packet — the transport buffer is still busy. Hours of “why is the stream empty” came down to one word.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8613648" y="1664208"/>
            <a:ext cx="91440" cy="7132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7"/>
          <p:cNvSpPr/>
          <p:nvPr/>
        </p:nvSpPr>
        <p:spPr>
          <a:xfrm>
            <a:off x="8833104" y="1618488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alignment:update a reliable emit; the trap is documented in the protocol so it can never be reintroduced.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548640" y="2523744"/>
            <a:ext cx="11091672" cy="896112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569464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13,311 objects broke the whole product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160520" y="2569464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visibility endpoint returned 7,783 rows / 2.7 MB in up to 33 s — timing out the digest, the alerts and the UI at once.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8613648" y="2615184"/>
            <a:ext cx="91440" cy="7132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2"/>
          <p:cNvSpPr/>
          <p:nvPr/>
        </p:nvSpPr>
        <p:spPr>
          <a:xfrm>
            <a:off x="8833104" y="2569464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DB projections, a magnitude cap on the candidate pool, vectorized time conversion: ~2.4 s warm.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548640" y="3474720"/>
            <a:ext cx="11091672" cy="896112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3520440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took 40 seconds — twice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160520" y="3520440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the obvious unbounded query got it to 9 s… and the log showed the DB was only 2 s of that. A hidden per-object Astropy loop (875 transforms for display-only data) was the other 7.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8613648" y="3566160"/>
            <a:ext cx="91440" cy="7132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7"/>
          <p:cNvSpPr/>
          <p:nvPr/>
        </p:nvSpPr>
        <p:spPr>
          <a:xfrm>
            <a:off x="8833104" y="352044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 the transform to the final top-N; added a Mongo stale-while-revalidate cache. 0.65 s served.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548640" y="4425696"/>
            <a:ext cx="11091672" cy="896112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4471416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itself lies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160520" y="4471416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OpenNGC ships ~135 physically impossible magnitudes (a naked-eye galaxy listed at V=11). Hubble types are case-sensitive: “Sb” ≠ “SB” — upper-casing would mislabel 3,663 galaxies including Andromeda.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8613648" y="4517136"/>
            <a:ext cx="91440" cy="7132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2"/>
          <p:cNvSpPr/>
          <p:nvPr/>
        </p:nvSpPr>
        <p:spPr>
          <a:xfrm>
            <a:off x="8833104" y="4471416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B−V sanity band picks the trustworthy column; type matching is case- and order-exact.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548640" y="5376672"/>
            <a:ext cx="11091672" cy="896112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422392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almost sent people to see nothing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160520" y="5422392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 endpoint was purely geometric — it happily reported a 69° pass… at noon. An alert on it would point observers at an invisible satellite.</a:t>
            </a:r>
            <a:endParaRPr lang="en-US" sz="930" dirty="0"/>
          </a:p>
        </p:txBody>
      </p:sp>
      <p:sp>
        <p:nvSpPr>
          <p:cNvPr id="29" name="Shape 26"/>
          <p:cNvSpPr/>
          <p:nvPr/>
        </p:nvSpPr>
        <p:spPr>
          <a:xfrm>
            <a:off x="8613648" y="5468112"/>
            <a:ext cx="91440" cy="7132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0" name="Text 27"/>
          <p:cNvSpPr/>
          <p:nvPr/>
        </p:nvSpPr>
        <p:spPr>
          <a:xfrm>
            <a:off x="8833104" y="5422392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pass now tested for sunlit spacecraft + dark observer sky; validated against real pass physics in 3 cities.</a:t>
            </a:r>
            <a:endParaRPr lang="en-US" sz="9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Rohit Maity/Desktop/coding/Webdev/project/skyguide-ai/frontend/src/assets/logo/logo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PARTS · 2 OF 2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Difficulties: platform pain &amp; the discipline that grew from it.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96112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618488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sensors are locked behind HTTPS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160520" y="1618488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browsers refuse DeviceOrientation on http:// — and every laptop-to-phone dev setup is http. iOS adds a permission gesture and its own compass quirks.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8613648" y="1664208"/>
            <a:ext cx="91440" cy="7132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7"/>
          <p:cNvSpPr/>
          <p:nvPr/>
        </p:nvSpPr>
        <p:spPr>
          <a:xfrm>
            <a:off x="8833104" y="1618488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Cloudflare-tunnel dev mode (one env var), a full-screen permission step, and on-phone calibration with confidence grades.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548640" y="2523744"/>
            <a:ext cx="11091672" cy="896112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569464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“Sign-up says not authenticated” = four stacked bugs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160520" y="2569464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never set the session cookie; an unguarded SMTP await could 500 after the user existed; the email link pointed at the API; and login checked verification before the password — a real enumeration leak.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8613648" y="2615184"/>
            <a:ext cx="91440" cy="7132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2"/>
          <p:cNvSpPr/>
          <p:nvPr/>
        </p:nvSpPr>
        <p:spPr>
          <a:xfrm>
            <a:off x="8833104" y="2569464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flow was rebuilt: cookie on sign-up, deferred 6-digit OTP, one generic 401. 32 live assertions.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548640" y="3474720"/>
            <a:ext cx="11091672" cy="896112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3520440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 libraries fought back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160520" y="3520440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astroquery's SIMBAD path crashes with an integer OverflowError in this stack; VizieR returned nothing at all.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8613648" y="3566160"/>
            <a:ext cx="91440" cy="7132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7"/>
          <p:cNvSpPr/>
          <p:nvPr/>
        </p:nvSpPr>
        <p:spPr>
          <a:xfrm>
            <a:off x="8833104" y="352044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Wrote raw ADQL against SIMBAD TAP with explicit columns — slower to build, bulletproof since.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548640" y="4425696"/>
            <a:ext cx="11091672" cy="896112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4471416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timestamps can't be trusted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160520" y="4471416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re-solves satellite passes per call, so the “same” pass moves by milliseconds — breaking dedupe keyed on event time: four identical alerts fired.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8613648" y="4517136"/>
            <a:ext cx="91440" cy="7132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2"/>
          <p:cNvSpPr/>
          <p:nvPr/>
        </p:nvSpPr>
        <p:spPr>
          <a:xfrm>
            <a:off x="8833104" y="4471416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Idempotency keys use the local date, never a float timestamp. Caught only because a test compared two independent calls.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548640" y="5376672"/>
            <a:ext cx="11091672" cy="896112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422392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 environment gaslights you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160520" y="5422392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hidden preview pane freezes requestAnimationFrame — so maps never load, animations sit at opacity 0 and screenshots hang. It looks exactly like your code is broken. It isn't.</a:t>
            </a:r>
            <a:endParaRPr lang="en-US" sz="930" dirty="0"/>
          </a:p>
        </p:txBody>
      </p:sp>
      <p:sp>
        <p:nvSpPr>
          <p:cNvPr id="29" name="Shape 26"/>
          <p:cNvSpPr/>
          <p:nvPr/>
        </p:nvSpPr>
        <p:spPr>
          <a:xfrm>
            <a:off x="8613648" y="5468112"/>
            <a:ext cx="91440" cy="7132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0" name="Text 27"/>
          <p:cNvSpPr/>
          <p:nvPr/>
        </p:nvSpPr>
        <p:spPr>
          <a:xfrm>
            <a:off x="8833104" y="5422392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verification discipline: assert on DOM state and network logs, never on pixels. Saved days of fake debugging.</a:t>
            </a:r>
            <a:endParaRPr lang="en-US" sz="930" dirty="0"/>
          </a:p>
        </p:txBody>
      </p:sp>
      <p:sp>
        <p:nvSpPr>
          <p:cNvPr id="31" name="Text 28"/>
          <p:cNvSpPr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trap above is written into the project's memory files — a bug is only expensive the first time.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Rohit Maity/Desktop/coding/Webdev/project/skyguide-ai/frontend/src/assets/logo/logo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wasn't a feature. It was a boundary.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5486400" cy="148132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810512"/>
            <a:ext cx="128016" cy="128016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8" name="Text 5"/>
          <p:cNvSpPr/>
          <p:nvPr/>
        </p:nvSpPr>
        <p:spPr>
          <a:xfrm>
            <a:off x="987552" y="170078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can't be reverse-engineered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084832"/>
            <a:ext cx="5120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4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 shows the CENTRE of your ~39 km geohash cell — deterministic, so a thousand polls reveal exactly what one does. Random “jitter” was rejected: noise averages out; a cell centre never will. Exact coordinates never cross the API boundary.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6172200" y="1627632"/>
            <a:ext cx="5486400" cy="148132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55080" y="1810512"/>
            <a:ext cx="128016" cy="128016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12" name="Text 9"/>
          <p:cNvSpPr/>
          <p:nvPr/>
        </p:nvSpPr>
        <p:spPr>
          <a:xfrm>
            <a:off x="6611112" y="170078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the browser can't leak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55080" y="2084832"/>
            <a:ext cx="5120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4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JWTs live only in HTTP-only cookies — JavaScript can never read them. Rate-limited logins, hashed OTPs (CSPRNG), and a fixed enumeration leak: one generic 401 for every wrong guess.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548640" y="3236976"/>
            <a:ext cx="5486400" cy="148132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1520" y="3419856"/>
            <a:ext cx="128016" cy="128016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16" name="Text 13"/>
          <p:cNvSpPr/>
          <p:nvPr/>
        </p:nvSpPr>
        <p:spPr>
          <a:xfrm>
            <a:off x="987552" y="33101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global chatroom, on purpose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1520" y="3694176"/>
            <a:ext cx="5120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4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everyone-channel is the hardest thing to moderate and the least useful. Rooms are your region + consent-gated DMs: a private room exists only after its recipient accepts a ping. Declines are silent — no retaliation loop.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6172200" y="3236976"/>
            <a:ext cx="5486400" cy="148132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55080" y="3419856"/>
            <a:ext cx="128016" cy="128016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20" name="Text 17"/>
          <p:cNvSpPr/>
          <p:nvPr/>
        </p:nvSpPr>
        <p:spPr>
          <a:xfrm>
            <a:off x="6611112" y="33101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that actually protect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55080" y="3694176"/>
            <a:ext cx="5120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4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one-way, enforced both ways — across discovery, history, live chat and pings. Reports snapshot the message so evidence outlives pruning. Profanity is masked, never rejected (this is an astronomy app: Uranus must pass).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548640" y="4846320"/>
            <a:ext cx="5486400" cy="148132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1520" y="5029200"/>
            <a:ext cx="128016" cy="128016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24" name="Text 21"/>
          <p:cNvSpPr/>
          <p:nvPr/>
        </p:nvSpPr>
        <p:spPr>
          <a:xfrm>
            <a:off x="987552" y="491947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on a leash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31520" y="5303520"/>
            <a:ext cx="5120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4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Astro can only hand you buttons from a hard allowlist of routes and validated catalog ids — 15/15 hostile-input tests: path traversal dropped, external URLs dropped, garbage dropped.</a:t>
            </a:r>
            <a:endParaRPr lang="en-US" sz="940" dirty="0"/>
          </a:p>
        </p:txBody>
      </p:sp>
      <p:sp>
        <p:nvSpPr>
          <p:cNvPr id="26" name="Shape 23"/>
          <p:cNvSpPr/>
          <p:nvPr/>
        </p:nvSpPr>
        <p:spPr>
          <a:xfrm>
            <a:off x="6172200" y="4846320"/>
            <a:ext cx="5486400" cy="1481328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55080" y="5029200"/>
            <a:ext cx="128016" cy="128016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28" name="Text 25"/>
          <p:cNvSpPr/>
          <p:nvPr/>
        </p:nvSpPr>
        <p:spPr>
          <a:xfrm>
            <a:off x="6611112" y="491947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failure states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355080" y="5303520"/>
            <a:ext cx="5120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4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AI engine dies, deterministic fallbacks write the brief. If Celestrak is down, cached TLEs serve. Empty is a state, not an error — the dashboard never lies about what it knows.</a:t>
            </a:r>
            <a:endParaRPr lang="en-US" sz="9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Rohit Maity/Desktop/coding/Webdev/project/skyguide-ai/frontend/src/assets/logo/logo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project, in numbers.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2679192" cy="141732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" y="1773936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94944" y="2505456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days, journaled daily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55848" y="1664208"/>
            <a:ext cx="2679192" cy="141732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02152" y="1773936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502152" y="2505456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— React, Express, FastAPI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63056" y="1664208"/>
            <a:ext cx="2679192" cy="141732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1773936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13,311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309360" y="2505456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celestial objects, each with a real image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970264" y="1664208"/>
            <a:ext cx="2679192" cy="141732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16568" y="1773936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0.02°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9116568" y="2505456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convergence in a live field test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3218688"/>
            <a:ext cx="2679192" cy="141732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944" y="3328416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&lt;100 ms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94944" y="4059936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→ dashboard telemetry loop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355848" y="3218688"/>
            <a:ext cx="2679192" cy="141732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02152" y="3328416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61×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3502152" y="4059936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speed-up (40 s → 0.65 s)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63056" y="3218688"/>
            <a:ext cx="2679192" cy="141732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09360" y="3328416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KB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6309360" y="4059936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companion bundle — was ~1 MB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970264" y="3218688"/>
            <a:ext cx="2679192" cy="141732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16568" y="3328416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000" dirty="0"/>
          </a:p>
        </p:txBody>
      </p:sp>
      <p:sp>
        <p:nvSpPr>
          <p:cNvPr id="29" name="Text 26"/>
          <p:cNvSpPr/>
          <p:nvPr/>
        </p:nvSpPr>
        <p:spPr>
          <a:xfrm>
            <a:off x="9116568" y="4059936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services, all on free tiers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48640" y="4773168"/>
            <a:ext cx="2679192" cy="141732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4944" y="4882896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3000" dirty="0"/>
          </a:p>
        </p:txBody>
      </p:sp>
      <p:sp>
        <p:nvSpPr>
          <p:cNvPr id="32" name="Text 29"/>
          <p:cNvSpPr/>
          <p:nvPr/>
        </p:nvSpPr>
        <p:spPr>
          <a:xfrm>
            <a:off x="694944" y="5614416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assertions in verification runs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355848" y="4773168"/>
            <a:ext cx="2679192" cy="141732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02152" y="4882896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000" dirty="0"/>
          </a:p>
        </p:txBody>
      </p:sp>
      <p:sp>
        <p:nvSpPr>
          <p:cNvPr id="35" name="Text 32"/>
          <p:cNvSpPr/>
          <p:nvPr/>
        </p:nvSpPr>
        <p:spPr>
          <a:xfrm>
            <a:off x="3502152" y="5614416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product experiences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6163056" y="4773168"/>
            <a:ext cx="2679192" cy="1417320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09360" y="4882896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000" dirty="0"/>
          </a:p>
        </p:txBody>
      </p:sp>
      <p:sp>
        <p:nvSpPr>
          <p:cNvPr id="38" name="Text 35"/>
          <p:cNvSpPr/>
          <p:nvPr/>
        </p:nvSpPr>
        <p:spPr>
          <a:xfrm>
            <a:off x="6309360" y="5614416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traps in project memory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8970264" y="4773168"/>
            <a:ext cx="2679192" cy="1417320"/>
          </a:xfrm>
          <a:prstGeom prst="rect">
            <a:avLst/>
          </a:prstGeom>
          <a:solidFill>
            <a:srgbClr val="0049CD"/>
          </a:solidFill>
          <a:ln w="9525">
            <a:solidFill>
              <a:srgbClr val="1E63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116568" y="4882896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</a:t>
            </a:r>
            <a:endParaRPr lang="en-US" sz="3000" dirty="0"/>
          </a:p>
        </p:txBody>
      </p:sp>
      <p:sp>
        <p:nvSpPr>
          <p:cNvPr id="41" name="Text 38"/>
          <p:cNvSpPr/>
          <p:nvPr/>
        </p:nvSpPr>
        <p:spPr>
          <a:xfrm>
            <a:off x="9116568" y="5614416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price. Now, and always.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Rohit Maity/Desktop/coding/Webdev/project/skyguide-ai/frontend/src/assets/logo/logo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GALLERY · 1 OF 2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product, in pixels.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5468112" cy="2331720"/>
          </a:xfrm>
          <a:prstGeom prst="rect">
            <a:avLst/>
          </a:prstGeom>
          <a:solidFill>
            <a:srgbClr val="0A0A0B"/>
          </a:solidFill>
          <a:ln w="12700">
            <a:solidFill>
              <a:srgbClr val="2E2F33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548640" y="1627632"/>
            <a:ext cx="54681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+ live sky teaser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8368" y="1737360"/>
            <a:ext cx="128016" cy="12801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9" name="Shape 6"/>
          <p:cNvSpPr/>
          <p:nvPr/>
        </p:nvSpPr>
        <p:spPr>
          <a:xfrm>
            <a:off x="6172200" y="1627632"/>
            <a:ext cx="5468112" cy="2331720"/>
          </a:xfrm>
          <a:prstGeom prst="rect">
            <a:avLst/>
          </a:prstGeom>
          <a:solidFill>
            <a:srgbClr val="0A0A0B"/>
          </a:solidFill>
          <a:ln w="12700">
            <a:solidFill>
              <a:srgbClr val="2E2F33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6172200" y="1627632"/>
            <a:ext cx="54681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TONIGHT — SKY REPORT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targets, sky dome, moon dossier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1928" y="1737360"/>
            <a:ext cx="128016" cy="12801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4114800"/>
            <a:ext cx="5468112" cy="2331720"/>
          </a:xfrm>
          <a:prstGeom prst="rect">
            <a:avLst/>
          </a:prstGeom>
          <a:solidFill>
            <a:srgbClr val="0A0A0B"/>
          </a:solidFill>
          <a:ln w="12700">
            <a:solidFill>
              <a:srgbClr val="2E2F33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548640" y="4114800"/>
            <a:ext cx="54681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WORKSPACE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glance grid + observatory setup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8368" y="4224528"/>
            <a:ext cx="128016" cy="12801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5" name="Shape 12"/>
          <p:cNvSpPr/>
          <p:nvPr/>
        </p:nvSpPr>
        <p:spPr>
          <a:xfrm>
            <a:off x="6172200" y="4114800"/>
            <a:ext cx="5468112" cy="2331720"/>
          </a:xfrm>
          <a:prstGeom prst="rect">
            <a:avLst/>
          </a:prstGeom>
          <a:solidFill>
            <a:srgbClr val="0A0A0B"/>
          </a:solidFill>
          <a:ln w="12700">
            <a:solidFill>
              <a:srgbClr val="2E2F33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6172200" y="4114800"/>
            <a:ext cx="54681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— 13K CATALOG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charts, filters, object detail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81928" y="4224528"/>
            <a:ext cx="128016" cy="128016"/>
          </a:xfrm>
          <a:prstGeom prst="rect">
            <a:avLst/>
          </a:prstGeom>
          <a:solidFill>
            <a:srgbClr val="0049CD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Rohit Maity/Desktop/coding/Webdev/project/skyguide-ai/frontend/src/assets/logo/logo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GALLERY · 2 OF 2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instrument, the community, the guide.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5468112" cy="2331720"/>
          </a:xfrm>
          <a:prstGeom prst="rect">
            <a:avLst/>
          </a:prstGeom>
          <a:solidFill>
            <a:srgbClr val="0A0A0B"/>
          </a:solidFill>
          <a:ln w="12700">
            <a:solidFill>
              <a:srgbClr val="2E2F33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548640" y="1627632"/>
            <a:ext cx="54681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WORKSPACE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viewport + telemetry panels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8368" y="1737360"/>
            <a:ext cx="128016" cy="12801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9" name="Shape 6"/>
          <p:cNvSpPr/>
          <p:nvPr/>
        </p:nvSpPr>
        <p:spPr>
          <a:xfrm>
            <a:off x="6172200" y="1627632"/>
            <a:ext cx="2651760" cy="4818888"/>
          </a:xfrm>
          <a:prstGeom prst="rect">
            <a:avLst/>
          </a:prstGeom>
          <a:solidFill>
            <a:srgbClr val="0A0A0B"/>
          </a:solidFill>
          <a:ln w="12700">
            <a:solidFill>
              <a:srgbClr val="2E2F33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6172200" y="1627632"/>
            <a:ext cx="2651760" cy="4818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COMPANION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arrows / lock screen (portrait)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1928" y="1737360"/>
            <a:ext cx="128016" cy="12801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2" name="Shape 9"/>
          <p:cNvSpPr/>
          <p:nvPr/>
        </p:nvSpPr>
        <p:spPr>
          <a:xfrm>
            <a:off x="8988552" y="1627632"/>
            <a:ext cx="2651760" cy="2331720"/>
          </a:xfrm>
          <a:prstGeom prst="rect">
            <a:avLst/>
          </a:prstGeom>
          <a:solidFill>
            <a:srgbClr val="0A0A0B"/>
          </a:solidFill>
          <a:ln w="12700">
            <a:solidFill>
              <a:srgbClr val="2E2F33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8988552" y="1627632"/>
            <a:ext cx="2651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MAP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observers on cells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098280" y="1737360"/>
            <a:ext cx="128016" cy="12801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5" name="Shape 12"/>
          <p:cNvSpPr/>
          <p:nvPr/>
        </p:nvSpPr>
        <p:spPr>
          <a:xfrm>
            <a:off x="8988552" y="4114800"/>
            <a:ext cx="2651760" cy="2331720"/>
          </a:xfrm>
          <a:prstGeom prst="rect">
            <a:avLst/>
          </a:prstGeom>
          <a:solidFill>
            <a:srgbClr val="0A0A0B"/>
          </a:solidFill>
          <a:ln w="12700">
            <a:solidFill>
              <a:srgbClr val="2E2F33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8988552" y="4114800"/>
            <a:ext cx="2651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LIGHT GUIDE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trail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098280" y="4224528"/>
            <a:ext cx="128016" cy="128016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8" name="Shape 15"/>
          <p:cNvSpPr/>
          <p:nvPr/>
        </p:nvSpPr>
        <p:spPr>
          <a:xfrm>
            <a:off x="548640" y="4114800"/>
            <a:ext cx="5468112" cy="2331720"/>
          </a:xfrm>
          <a:prstGeom prst="rect">
            <a:avLst/>
          </a:prstGeom>
          <a:solidFill>
            <a:srgbClr val="0A0A0B"/>
          </a:solidFill>
          <a:ln w="12700">
            <a:solidFill>
              <a:srgbClr val="2E2F33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548640" y="4114800"/>
            <a:ext cx="54681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ASTRO + TONIGHT'S BRIEF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with action buttons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58368" y="4224528"/>
            <a:ext cx="128016" cy="128016"/>
          </a:xfrm>
          <a:prstGeom prst="rect">
            <a:avLst/>
          </a:prstGeom>
          <a:solidFill>
            <a:srgbClr val="0049CD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Rohit Maity/Desktop/coding/Webdev/project/skyguide-ai/frontend/src/assets/logo/logo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goes from here.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5486400" cy="1444752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847088"/>
            <a:ext cx="329184" cy="329184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88720" y="1792224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ML ranker (Phase C)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2231136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8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heuristic scorer already reports itself as “heuristic-v1” behind a stable endpoint — the learning ranker slots in the moment there's real observation history to train on. Deferred honestly, not forgotten.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172200" y="1664208"/>
            <a:ext cx="5486400" cy="1444752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55080" y="1847088"/>
            <a:ext cx="329184" cy="329184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12280" y="1792224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Astrophotography mode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355080" y="2231136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8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Camera/eyepiece fields are already reserved in the telescope schema: true field-of-view math, framing checks, imaging-specific target scores.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548640" y="3236976"/>
            <a:ext cx="5486400" cy="1444752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3419856"/>
            <a:ext cx="329184" cy="329184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3419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88720" y="336499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community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31520" y="3803904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8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Moderation dashboard (the role exists), observation sharing, group star-parties around the dark-site ladder.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6172200" y="3236976"/>
            <a:ext cx="5486400" cy="1444752"/>
          </a:xfrm>
          <a:prstGeom prst="rect">
            <a:avLst/>
          </a:prstGeom>
          <a:solidFill>
            <a:srgbClr val="111214"/>
          </a:solidFill>
          <a:ln w="9525">
            <a:solidFill>
              <a:srgbClr val="2324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55080" y="3419856"/>
            <a:ext cx="329184" cy="329184"/>
          </a:xfrm>
          <a:prstGeom prst="rect">
            <a:avLst/>
          </a:prstGeom>
          <a:solidFill>
            <a:srgbClr val="0049CD"/>
          </a:solidFill>
          <a:ln/>
        </p:spPr>
      </p:sp>
      <p:sp>
        <p:nvSpPr>
          <p:cNvPr id="23" name="Text 20"/>
          <p:cNvSpPr/>
          <p:nvPr/>
        </p:nvSpPr>
        <p:spPr>
          <a:xfrm>
            <a:off x="6355080" y="3419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812280" y="336499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sky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355080" y="3803904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8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Planets &amp; comets as guidable targets, meteor-shower calendars, more catalogs beyond NGC/IC.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548640" y="4983480"/>
            <a:ext cx="11091672" cy="1371600"/>
          </a:xfrm>
          <a:prstGeom prst="rect">
            <a:avLst/>
          </a:prstGeom>
          <a:solidFill>
            <a:srgbClr val="0A0A0B"/>
          </a:solidFill>
          <a:ln w="12700">
            <a:solidFill>
              <a:srgbClr val="0049C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7240" y="49834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how it stays free: </a:t>
            </a:r>
            <a:r>
              <a:rPr lang="en-US" sz="120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marginal cost of a new user is nearly zero — open catalogs, cached free-tier APIs, science that runs in milliseconds. If it ever needs money, it will be optional support from the community it serves — never a paywall between a beginner and the sky.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97859" y="3100190"/>
            <a:ext cx="24647" cy="24647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3" name="Shape 1"/>
          <p:cNvSpPr/>
          <p:nvPr/>
        </p:nvSpPr>
        <p:spPr>
          <a:xfrm>
            <a:off x="4944394" y="4698647"/>
            <a:ext cx="11822" cy="11822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4" name="Shape 2"/>
          <p:cNvSpPr/>
          <p:nvPr/>
        </p:nvSpPr>
        <p:spPr>
          <a:xfrm>
            <a:off x="8380428" y="3662566"/>
            <a:ext cx="29165" cy="29165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5" name="Shape 3"/>
          <p:cNvSpPr/>
          <p:nvPr/>
        </p:nvSpPr>
        <p:spPr>
          <a:xfrm>
            <a:off x="2641720" y="4064860"/>
            <a:ext cx="27282" cy="27282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6" name="Shape 4"/>
          <p:cNvSpPr/>
          <p:nvPr/>
        </p:nvSpPr>
        <p:spPr>
          <a:xfrm>
            <a:off x="3189268" y="4057485"/>
            <a:ext cx="25813" cy="25813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7" name="Shape 5"/>
          <p:cNvSpPr/>
          <p:nvPr/>
        </p:nvSpPr>
        <p:spPr>
          <a:xfrm>
            <a:off x="9440324" y="6821638"/>
            <a:ext cx="28796" cy="28796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8" name="Shape 6"/>
          <p:cNvSpPr/>
          <p:nvPr/>
        </p:nvSpPr>
        <p:spPr>
          <a:xfrm>
            <a:off x="9379638" y="2167416"/>
            <a:ext cx="25436" cy="25436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9" name="Shape 7"/>
          <p:cNvSpPr/>
          <p:nvPr/>
        </p:nvSpPr>
        <p:spPr>
          <a:xfrm>
            <a:off x="8164240" y="3005245"/>
            <a:ext cx="31058" cy="31058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10" name="Shape 8"/>
          <p:cNvSpPr/>
          <p:nvPr/>
        </p:nvSpPr>
        <p:spPr>
          <a:xfrm>
            <a:off x="10320440" y="3850241"/>
            <a:ext cx="27917" cy="27917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11" name="Shape 9"/>
          <p:cNvSpPr/>
          <p:nvPr/>
        </p:nvSpPr>
        <p:spPr>
          <a:xfrm>
            <a:off x="1047922" y="6517882"/>
            <a:ext cx="20380" cy="20380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9477" y="599512"/>
            <a:ext cx="15648" cy="15648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13" name="Shape 11"/>
          <p:cNvSpPr/>
          <p:nvPr/>
        </p:nvSpPr>
        <p:spPr>
          <a:xfrm>
            <a:off x="8034207" y="962990"/>
            <a:ext cx="11223" cy="11223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14" name="Shape 12"/>
          <p:cNvSpPr/>
          <p:nvPr/>
        </p:nvSpPr>
        <p:spPr>
          <a:xfrm>
            <a:off x="705423" y="4711973"/>
            <a:ext cx="25065" cy="25065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15" name="Shape 13"/>
          <p:cNvSpPr/>
          <p:nvPr/>
        </p:nvSpPr>
        <p:spPr>
          <a:xfrm>
            <a:off x="8838699" y="2961023"/>
            <a:ext cx="23462" cy="23462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610714" y="6453458"/>
            <a:ext cx="22687" cy="22687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17" name="Shape 15"/>
          <p:cNvSpPr/>
          <p:nvPr/>
        </p:nvSpPr>
        <p:spPr>
          <a:xfrm>
            <a:off x="4022827" y="6592908"/>
            <a:ext cx="17719" cy="17719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18" name="Shape 16"/>
          <p:cNvSpPr/>
          <p:nvPr/>
        </p:nvSpPr>
        <p:spPr>
          <a:xfrm>
            <a:off x="2213786" y="3611512"/>
            <a:ext cx="26748" cy="26748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19" name="Shape 17"/>
          <p:cNvSpPr/>
          <p:nvPr/>
        </p:nvSpPr>
        <p:spPr>
          <a:xfrm>
            <a:off x="3773350" y="6616688"/>
            <a:ext cx="23298" cy="23298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295282" y="187300"/>
            <a:ext cx="11344" cy="11344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21" name="Shape 19"/>
          <p:cNvSpPr/>
          <p:nvPr/>
        </p:nvSpPr>
        <p:spPr>
          <a:xfrm>
            <a:off x="9409775" y="5974195"/>
            <a:ext cx="11924" cy="11924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056059" y="6259647"/>
            <a:ext cx="23202" cy="23202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23" name="Shape 21"/>
          <p:cNvSpPr/>
          <p:nvPr/>
        </p:nvSpPr>
        <p:spPr>
          <a:xfrm>
            <a:off x="9899119" y="4212967"/>
            <a:ext cx="26656" cy="26656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24" name="Shape 22"/>
          <p:cNvSpPr/>
          <p:nvPr/>
        </p:nvSpPr>
        <p:spPr>
          <a:xfrm>
            <a:off x="5808605" y="2194193"/>
            <a:ext cx="17801" cy="17801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3416" y="321805"/>
            <a:ext cx="24068" cy="24068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693438" y="44368"/>
            <a:ext cx="25724" cy="25724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27" name="Shape 25"/>
          <p:cNvSpPr/>
          <p:nvPr/>
        </p:nvSpPr>
        <p:spPr>
          <a:xfrm>
            <a:off x="1164515" y="4919108"/>
            <a:ext cx="17603" cy="17603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28" name="Shape 26"/>
          <p:cNvSpPr/>
          <p:nvPr/>
        </p:nvSpPr>
        <p:spPr>
          <a:xfrm>
            <a:off x="5691953" y="3240400"/>
            <a:ext cx="16927" cy="16927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29" name="Shape 27"/>
          <p:cNvSpPr/>
          <p:nvPr/>
        </p:nvSpPr>
        <p:spPr>
          <a:xfrm>
            <a:off x="2155444" y="556028"/>
            <a:ext cx="24384" cy="24384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30" name="Shape 28"/>
          <p:cNvSpPr/>
          <p:nvPr/>
        </p:nvSpPr>
        <p:spPr>
          <a:xfrm>
            <a:off x="6731185" y="3021692"/>
            <a:ext cx="17116" cy="17116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31" name="Shape 29"/>
          <p:cNvSpPr/>
          <p:nvPr/>
        </p:nvSpPr>
        <p:spPr>
          <a:xfrm>
            <a:off x="5456745" y="1034735"/>
            <a:ext cx="27849" cy="27849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32" name="Shape 30"/>
          <p:cNvSpPr/>
          <p:nvPr/>
        </p:nvSpPr>
        <p:spPr>
          <a:xfrm>
            <a:off x="5272981" y="5241958"/>
            <a:ext cx="21866" cy="21866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33" name="Shape 31"/>
          <p:cNvSpPr/>
          <p:nvPr/>
        </p:nvSpPr>
        <p:spPr>
          <a:xfrm>
            <a:off x="10810554" y="2515223"/>
            <a:ext cx="12864" cy="12864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34" name="Shape 32"/>
          <p:cNvSpPr/>
          <p:nvPr/>
        </p:nvSpPr>
        <p:spPr>
          <a:xfrm>
            <a:off x="7589169" y="3356634"/>
            <a:ext cx="14017" cy="14017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35" name="Shape 33"/>
          <p:cNvSpPr/>
          <p:nvPr/>
        </p:nvSpPr>
        <p:spPr>
          <a:xfrm>
            <a:off x="9506004" y="3838621"/>
            <a:ext cx="18287" cy="18287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36" name="Shape 34"/>
          <p:cNvSpPr/>
          <p:nvPr/>
        </p:nvSpPr>
        <p:spPr>
          <a:xfrm>
            <a:off x="6884664" y="467502"/>
            <a:ext cx="25356" cy="25356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3491379" y="1123955"/>
            <a:ext cx="20870" cy="20870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38" name="Shape 36"/>
          <p:cNvSpPr/>
          <p:nvPr/>
        </p:nvSpPr>
        <p:spPr>
          <a:xfrm>
            <a:off x="6399566" y="1229925"/>
            <a:ext cx="14883" cy="14883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39" name="Shape 37"/>
          <p:cNvSpPr/>
          <p:nvPr/>
        </p:nvSpPr>
        <p:spPr>
          <a:xfrm>
            <a:off x="5810418" y="5624163"/>
            <a:ext cx="15346" cy="15346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40" name="Shape 38"/>
          <p:cNvSpPr/>
          <p:nvPr/>
        </p:nvSpPr>
        <p:spPr>
          <a:xfrm>
            <a:off x="898113" y="2619850"/>
            <a:ext cx="21117" cy="21117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41" name="Shape 39"/>
          <p:cNvSpPr/>
          <p:nvPr/>
        </p:nvSpPr>
        <p:spPr>
          <a:xfrm>
            <a:off x="3822442" y="4507841"/>
            <a:ext cx="19635" cy="19635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42" name="Shape 40"/>
          <p:cNvSpPr/>
          <p:nvPr/>
        </p:nvSpPr>
        <p:spPr>
          <a:xfrm>
            <a:off x="8560931" y="2910281"/>
            <a:ext cx="16375" cy="16375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43" name="Shape 41"/>
          <p:cNvSpPr/>
          <p:nvPr/>
        </p:nvSpPr>
        <p:spPr>
          <a:xfrm>
            <a:off x="1408988" y="5579726"/>
            <a:ext cx="17298" cy="17298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44" name="Shape 42"/>
          <p:cNvSpPr/>
          <p:nvPr/>
        </p:nvSpPr>
        <p:spPr>
          <a:xfrm>
            <a:off x="6411188" y="1409263"/>
            <a:ext cx="25087" cy="25087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45" name="Shape 43"/>
          <p:cNvSpPr/>
          <p:nvPr/>
        </p:nvSpPr>
        <p:spPr>
          <a:xfrm>
            <a:off x="4168026" y="1189466"/>
            <a:ext cx="11829" cy="11829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46" name="Shape 44"/>
          <p:cNvSpPr/>
          <p:nvPr/>
        </p:nvSpPr>
        <p:spPr>
          <a:xfrm>
            <a:off x="11372479" y="1290090"/>
            <a:ext cx="23894" cy="23894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47" name="Shape 45"/>
          <p:cNvSpPr/>
          <p:nvPr/>
        </p:nvSpPr>
        <p:spPr>
          <a:xfrm>
            <a:off x="4207861" y="683098"/>
            <a:ext cx="12545" cy="12545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48" name="Shape 46"/>
          <p:cNvSpPr/>
          <p:nvPr/>
        </p:nvSpPr>
        <p:spPr>
          <a:xfrm>
            <a:off x="4317635" y="3182742"/>
            <a:ext cx="30947" cy="30947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49" name="Shape 47"/>
          <p:cNvSpPr/>
          <p:nvPr/>
        </p:nvSpPr>
        <p:spPr>
          <a:xfrm>
            <a:off x="2575435" y="1334682"/>
            <a:ext cx="29577" cy="29577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053090" y="6312891"/>
            <a:ext cx="12862" cy="12862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51" name="Shape 49"/>
          <p:cNvSpPr/>
          <p:nvPr/>
        </p:nvSpPr>
        <p:spPr>
          <a:xfrm>
            <a:off x="6160871" y="342895"/>
            <a:ext cx="17754" cy="17754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52" name="Shape 50"/>
          <p:cNvSpPr/>
          <p:nvPr/>
        </p:nvSpPr>
        <p:spPr>
          <a:xfrm>
            <a:off x="10775704" y="2147406"/>
            <a:ext cx="24625" cy="24625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53" name="Shape 51"/>
          <p:cNvSpPr/>
          <p:nvPr/>
        </p:nvSpPr>
        <p:spPr>
          <a:xfrm>
            <a:off x="5262817" y="5136402"/>
            <a:ext cx="28160" cy="28160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54" name="Shape 52"/>
          <p:cNvSpPr/>
          <p:nvPr/>
        </p:nvSpPr>
        <p:spPr>
          <a:xfrm>
            <a:off x="10705212" y="775377"/>
            <a:ext cx="15530" cy="15530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55" name="Shape 53"/>
          <p:cNvSpPr/>
          <p:nvPr/>
        </p:nvSpPr>
        <p:spPr>
          <a:xfrm>
            <a:off x="742463" y="5216845"/>
            <a:ext cx="31025" cy="31025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56" name="Shape 54"/>
          <p:cNvSpPr/>
          <p:nvPr/>
        </p:nvSpPr>
        <p:spPr>
          <a:xfrm>
            <a:off x="4975525" y="4185785"/>
            <a:ext cx="14292" cy="14292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57" name="Shape 55"/>
          <p:cNvSpPr/>
          <p:nvPr/>
        </p:nvSpPr>
        <p:spPr>
          <a:xfrm>
            <a:off x="4384029" y="86949"/>
            <a:ext cx="12732" cy="12732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58" name="Shape 56"/>
          <p:cNvSpPr/>
          <p:nvPr/>
        </p:nvSpPr>
        <p:spPr>
          <a:xfrm>
            <a:off x="11346224" y="6759299"/>
            <a:ext cx="13223" cy="13223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59" name="Shape 57"/>
          <p:cNvSpPr/>
          <p:nvPr/>
        </p:nvSpPr>
        <p:spPr>
          <a:xfrm>
            <a:off x="1709094" y="4257278"/>
            <a:ext cx="18487" cy="18487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60" name="Shape 58"/>
          <p:cNvSpPr/>
          <p:nvPr/>
        </p:nvSpPr>
        <p:spPr>
          <a:xfrm>
            <a:off x="161330" y="3104811"/>
            <a:ext cx="11092" cy="11092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61" name="Shape 59"/>
          <p:cNvSpPr/>
          <p:nvPr/>
        </p:nvSpPr>
        <p:spPr>
          <a:xfrm>
            <a:off x="2985226" y="1666526"/>
            <a:ext cx="14564" cy="14564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62" name="Shape 60"/>
          <p:cNvSpPr/>
          <p:nvPr/>
        </p:nvSpPr>
        <p:spPr>
          <a:xfrm>
            <a:off x="2204313" y="3185625"/>
            <a:ext cx="12126" cy="12126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63" name="Shape 61"/>
          <p:cNvSpPr/>
          <p:nvPr/>
        </p:nvSpPr>
        <p:spPr>
          <a:xfrm>
            <a:off x="3035923" y="1016767"/>
            <a:ext cx="27204" cy="27204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64" name="Shape 62"/>
          <p:cNvSpPr/>
          <p:nvPr/>
        </p:nvSpPr>
        <p:spPr>
          <a:xfrm>
            <a:off x="8162776" y="2881332"/>
            <a:ext cx="17451" cy="17451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65" name="Shape 63"/>
          <p:cNvSpPr/>
          <p:nvPr/>
        </p:nvSpPr>
        <p:spPr>
          <a:xfrm>
            <a:off x="1836894" y="5763688"/>
            <a:ext cx="14047" cy="14047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66" name="Shape 64"/>
          <p:cNvSpPr/>
          <p:nvPr/>
        </p:nvSpPr>
        <p:spPr>
          <a:xfrm>
            <a:off x="6819235" y="5824433"/>
            <a:ext cx="11420" cy="11420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67" name="Shape 65"/>
          <p:cNvSpPr/>
          <p:nvPr/>
        </p:nvSpPr>
        <p:spPr>
          <a:xfrm>
            <a:off x="1593394" y="587683"/>
            <a:ext cx="15883" cy="15883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68" name="Shape 66"/>
          <p:cNvSpPr/>
          <p:nvPr/>
        </p:nvSpPr>
        <p:spPr>
          <a:xfrm>
            <a:off x="10766932" y="1490608"/>
            <a:ext cx="12059" cy="12059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69" name="Shape 67"/>
          <p:cNvSpPr/>
          <p:nvPr/>
        </p:nvSpPr>
        <p:spPr>
          <a:xfrm>
            <a:off x="8225597" y="288771"/>
            <a:ext cx="24940" cy="24940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70" name="Shape 68"/>
          <p:cNvSpPr/>
          <p:nvPr/>
        </p:nvSpPr>
        <p:spPr>
          <a:xfrm>
            <a:off x="2705845" y="90677"/>
            <a:ext cx="15487" cy="15487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71" name="Shape 69"/>
          <p:cNvSpPr/>
          <p:nvPr/>
        </p:nvSpPr>
        <p:spPr>
          <a:xfrm>
            <a:off x="2900072" y="5666734"/>
            <a:ext cx="21970" cy="21970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72" name="Shape 70"/>
          <p:cNvSpPr/>
          <p:nvPr/>
        </p:nvSpPr>
        <p:spPr>
          <a:xfrm>
            <a:off x="5902932" y="2640274"/>
            <a:ext cx="22206" cy="22206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73" name="Shape 71"/>
          <p:cNvSpPr/>
          <p:nvPr/>
        </p:nvSpPr>
        <p:spPr>
          <a:xfrm>
            <a:off x="5676100" y="4202531"/>
            <a:ext cx="15087" cy="15087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74" name="Shape 72"/>
          <p:cNvSpPr/>
          <p:nvPr/>
        </p:nvSpPr>
        <p:spPr>
          <a:xfrm>
            <a:off x="6463750" y="4670924"/>
            <a:ext cx="13021" cy="13021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75" name="Shape 73"/>
          <p:cNvSpPr/>
          <p:nvPr/>
        </p:nvSpPr>
        <p:spPr>
          <a:xfrm>
            <a:off x="6129490" y="5346981"/>
            <a:ext cx="29561" cy="29561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76" name="Shape 74"/>
          <p:cNvSpPr/>
          <p:nvPr/>
        </p:nvSpPr>
        <p:spPr>
          <a:xfrm>
            <a:off x="3752061" y="4184909"/>
            <a:ext cx="11296" cy="11296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77" name="Shape 75"/>
          <p:cNvSpPr/>
          <p:nvPr/>
        </p:nvSpPr>
        <p:spPr>
          <a:xfrm>
            <a:off x="6090812" y="3075580"/>
            <a:ext cx="18393" cy="18393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78" name="Shape 76"/>
          <p:cNvSpPr/>
          <p:nvPr/>
        </p:nvSpPr>
        <p:spPr>
          <a:xfrm>
            <a:off x="1465462" y="4688848"/>
            <a:ext cx="11555" cy="11555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79" name="Shape 77"/>
          <p:cNvSpPr/>
          <p:nvPr/>
        </p:nvSpPr>
        <p:spPr>
          <a:xfrm>
            <a:off x="6130659" y="2690621"/>
            <a:ext cx="29942" cy="29942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80" name="Shape 78"/>
          <p:cNvSpPr/>
          <p:nvPr/>
        </p:nvSpPr>
        <p:spPr>
          <a:xfrm>
            <a:off x="5045909" y="4532656"/>
            <a:ext cx="15909" cy="15909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81" name="Shape 79"/>
          <p:cNvSpPr/>
          <p:nvPr/>
        </p:nvSpPr>
        <p:spPr>
          <a:xfrm>
            <a:off x="2151502" y="4419107"/>
            <a:ext cx="30467" cy="30467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82" name="Shape 80"/>
          <p:cNvSpPr/>
          <p:nvPr/>
        </p:nvSpPr>
        <p:spPr>
          <a:xfrm>
            <a:off x="9742138" y="1079708"/>
            <a:ext cx="12120" cy="12120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83" name="Shape 81"/>
          <p:cNvSpPr/>
          <p:nvPr/>
        </p:nvSpPr>
        <p:spPr>
          <a:xfrm>
            <a:off x="86796" y="4664952"/>
            <a:ext cx="20323" cy="20323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84" name="Shape 82"/>
          <p:cNvSpPr/>
          <p:nvPr/>
        </p:nvSpPr>
        <p:spPr>
          <a:xfrm>
            <a:off x="6166332" y="3974577"/>
            <a:ext cx="22130" cy="22130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85" name="Shape 83"/>
          <p:cNvSpPr/>
          <p:nvPr/>
        </p:nvSpPr>
        <p:spPr>
          <a:xfrm>
            <a:off x="11262450" y="3239108"/>
            <a:ext cx="13543" cy="13543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86" name="Shape 84"/>
          <p:cNvSpPr/>
          <p:nvPr/>
        </p:nvSpPr>
        <p:spPr>
          <a:xfrm>
            <a:off x="1214406" y="3498719"/>
            <a:ext cx="18225" cy="18225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87" name="Shape 85"/>
          <p:cNvSpPr/>
          <p:nvPr/>
        </p:nvSpPr>
        <p:spPr>
          <a:xfrm>
            <a:off x="10257094" y="1478565"/>
            <a:ext cx="21836" cy="21836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88" name="Shape 86"/>
          <p:cNvSpPr/>
          <p:nvPr/>
        </p:nvSpPr>
        <p:spPr>
          <a:xfrm>
            <a:off x="3576383" y="2557312"/>
            <a:ext cx="15851" cy="15851"/>
          </a:xfrm>
          <a:prstGeom prst="ellipse">
            <a:avLst/>
          </a:prstGeom>
          <a:solidFill>
            <a:srgbClr val="3A3B40"/>
          </a:solidFill>
          <a:ln/>
        </p:spPr>
      </p:sp>
      <p:sp>
        <p:nvSpPr>
          <p:cNvPr id="89" name="Shape 87"/>
          <p:cNvSpPr/>
          <p:nvPr/>
        </p:nvSpPr>
        <p:spPr>
          <a:xfrm>
            <a:off x="1363652" y="2064368"/>
            <a:ext cx="14517" cy="14517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90" name="Shape 88"/>
          <p:cNvSpPr/>
          <p:nvPr/>
        </p:nvSpPr>
        <p:spPr>
          <a:xfrm>
            <a:off x="5428057" y="4073110"/>
            <a:ext cx="11548" cy="11548"/>
          </a:xfrm>
          <a:prstGeom prst="ellipse">
            <a:avLst/>
          </a:prstGeom>
          <a:solidFill>
            <a:srgbClr val="6B6C70"/>
          </a:solidFill>
          <a:ln/>
        </p:spPr>
      </p:sp>
      <p:sp>
        <p:nvSpPr>
          <p:cNvPr id="91" name="Shape 89"/>
          <p:cNvSpPr/>
          <p:nvPr/>
        </p:nvSpPr>
        <p:spPr>
          <a:xfrm>
            <a:off x="4811476" y="2795548"/>
            <a:ext cx="12803" cy="12803"/>
          </a:xfrm>
          <a:prstGeom prst="ellipse">
            <a:avLst/>
          </a:prstGeom>
          <a:solidFill>
            <a:srgbClr val="6B6C70"/>
          </a:solidFill>
          <a:ln/>
        </p:spPr>
      </p:sp>
      <p:pic>
        <p:nvPicPr>
          <p:cNvPr id="92" name="Image 0" descr="C:/Users/Rohit Maity/Desktop/coding/Webdev/project/skyguide-ai/frontend/src/assets/logo/logo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116" y="1371600"/>
            <a:ext cx="1188720" cy="1188720"/>
          </a:xfrm>
          <a:prstGeom prst="rect">
            <a:avLst/>
          </a:prstGeom>
        </p:spPr>
      </p:pic>
      <p:sp>
        <p:nvSpPr>
          <p:cNvPr id="93" name="Text 90"/>
          <p:cNvSpPr/>
          <p:nvPr/>
        </p:nvSpPr>
        <p:spPr>
          <a:xfrm>
            <a:off x="914400" y="283464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-50" dirty="0">
                <a:solidFill>
                  <a:srgbClr val="F6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sky belongs to everyone.</a:t>
            </a:r>
            <a:endParaRPr lang="en-US" sz="4000" dirty="0"/>
          </a:p>
        </p:txBody>
      </p:sp>
      <p:sp>
        <p:nvSpPr>
          <p:cNvPr id="94" name="Text 91"/>
          <p:cNvSpPr/>
          <p:nvPr/>
        </p:nvSpPr>
        <p:spPr>
          <a:xfrm>
            <a:off x="914400" y="37033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SkyGuide AI — built by a beginner, for beginners. Free, forever.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914400" y="47091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9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Rohit Maity   ·   github.com/watermelon588   ·   maityrohit021@gmail.com</a:t>
            </a:r>
            <a:endParaRPr lang="en-US" sz="1200" dirty="0"/>
          </a:p>
        </p:txBody>
      </p:sp>
      <p:sp>
        <p:nvSpPr>
          <p:cNvPr id="96" name="Text 93"/>
          <p:cNvSpPr/>
          <p:nvPr/>
        </p:nvSpPr>
        <p:spPr>
          <a:xfrm>
            <a:off x="914400" y="566928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and clear skies.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5137</Words>
  <Application>Microsoft Office PowerPoint</Application>
  <PresentationFormat>Widescreen</PresentationFormat>
  <Paragraphs>492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SkyGuide AI — Project Presentation</dc:title>
  <dc:subject>PptxGenJS Presentation</dc:subject>
  <dc:creator>Rohit Maity</dc:creator>
  <cp:lastModifiedBy>Rohit Maity</cp:lastModifiedBy>
  <cp:revision>2</cp:revision>
  <dcterms:created xsi:type="dcterms:W3CDTF">2026-07-17T16:26:52Z</dcterms:created>
  <dcterms:modified xsi:type="dcterms:W3CDTF">2026-07-17T19:10:44Z</dcterms:modified>
</cp:coreProperties>
</file>